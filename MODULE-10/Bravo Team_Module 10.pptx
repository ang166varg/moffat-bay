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0A1CE8E2-B29C-46E8-A470-184A33A74CA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1C7B45A-34B3-4AB4-9405-7DFB6EEAD57D}">
      <dgm:prSet/>
      <dgm:spPr/>
      <dgm:t>
        <a:bodyPr/>
        <a:lstStyle/>
        <a:p>
          <a:r>
            <a:rPr lang="en-US"/>
            <a:t>Angela Vargas is a software development student based in Loveland, Colorado, currently working as a Micromaintenece Tech for Target. She has experience with IT and in computer mechanics.</a:t>
          </a:r>
        </a:p>
      </dgm:t>
    </dgm:pt>
    <dgm:pt modelId="{50598383-7800-4990-BF69-A88C56246207}" type="parTrans" cxnId="{98A93AB1-4C48-4524-B9FB-AA264AF21AB7}">
      <dgm:prSet/>
      <dgm:spPr/>
      <dgm:t>
        <a:bodyPr/>
        <a:lstStyle/>
        <a:p>
          <a:endParaRPr lang="en-US"/>
        </a:p>
      </dgm:t>
    </dgm:pt>
    <dgm:pt modelId="{1EB9450D-959C-4E78-BF3B-D43A84151698}" type="sibTrans" cxnId="{98A93AB1-4C48-4524-B9FB-AA264AF21AB7}">
      <dgm:prSet/>
      <dgm:spPr/>
      <dgm:t>
        <a:bodyPr/>
        <a:lstStyle/>
        <a:p>
          <a:endParaRPr lang="en-US"/>
        </a:p>
      </dgm:t>
    </dgm:pt>
    <dgm:pt modelId="{C8D8665C-419E-4EFF-8BBF-8562C8E1612B}">
      <dgm:prSet/>
      <dgm:spPr/>
      <dgm:t>
        <a:bodyPr/>
        <a:lstStyle/>
        <a:p>
          <a:r>
            <a:rPr lang="en-US"/>
            <a:t>Tevyah Hanley is a software development student based in Columbus, Ohio, currently working in IT. He is building experience in both frontend and backend development.</a:t>
          </a:r>
        </a:p>
      </dgm:t>
    </dgm:pt>
    <dgm:pt modelId="{3821036A-8AAA-4E61-9D4B-5A965899853D}" type="parTrans" cxnId="{A82E1458-CBA4-4ED7-A778-FF2F72F5AFE1}">
      <dgm:prSet/>
      <dgm:spPr/>
      <dgm:t>
        <a:bodyPr/>
        <a:lstStyle/>
        <a:p>
          <a:endParaRPr lang="en-US"/>
        </a:p>
      </dgm:t>
    </dgm:pt>
    <dgm:pt modelId="{0481F13D-1A1E-4D19-97D0-B1818AFF23BB}" type="sibTrans" cxnId="{A82E1458-CBA4-4ED7-A778-FF2F72F5AFE1}">
      <dgm:prSet/>
      <dgm:spPr/>
      <dgm:t>
        <a:bodyPr/>
        <a:lstStyle/>
        <a:p>
          <a:endParaRPr lang="en-US"/>
        </a:p>
      </dgm:t>
    </dgm:pt>
    <dgm:pt modelId="{83EB74CC-0BCF-44BD-837B-3FB0A9E6D9AD}">
      <dgm:prSet/>
      <dgm:spPr/>
      <dgm:t>
        <a:bodyPr/>
        <a:lstStyle/>
        <a:p>
          <a:r>
            <a:rPr lang="en-US"/>
            <a:t>Cameron Mendez is a software development student based in Fort Worth, Texas, currently working in FO Network Design. Developing hands on experience in all aspects of the software development lifecycle.</a:t>
          </a:r>
        </a:p>
      </dgm:t>
    </dgm:pt>
    <dgm:pt modelId="{AE6F4824-C250-41A8-8578-A476F0C6F10F}" type="parTrans" cxnId="{36866D61-B756-46D8-9981-BEE3F69AA07C}">
      <dgm:prSet/>
      <dgm:spPr/>
      <dgm:t>
        <a:bodyPr/>
        <a:lstStyle/>
        <a:p>
          <a:endParaRPr lang="en-US"/>
        </a:p>
      </dgm:t>
    </dgm:pt>
    <dgm:pt modelId="{CCA993F2-26A8-402E-9212-5B2D7F7B2E18}" type="sibTrans" cxnId="{36866D61-B756-46D8-9981-BEE3F69AA07C}">
      <dgm:prSet/>
      <dgm:spPr/>
      <dgm:t>
        <a:bodyPr/>
        <a:lstStyle/>
        <a:p>
          <a:endParaRPr lang="en-US"/>
        </a:p>
      </dgm:t>
    </dgm:pt>
    <dgm:pt modelId="{80B40EB5-7336-418A-A66E-5D4D4F47B4DA}">
      <dgm:prSet/>
      <dgm:spPr/>
      <dgm:t>
        <a:bodyPr/>
        <a:lstStyle/>
        <a:p>
          <a:r>
            <a:rPr lang="en-US"/>
            <a:t>Zachary is a software development student based in Modesto,California. He currently is working outside of the IT profession but hopes witha degree in the field to transfer into it. The experience from this program has been incredibly beneficial to his skills.</a:t>
          </a:r>
        </a:p>
      </dgm:t>
    </dgm:pt>
    <dgm:pt modelId="{E795DF19-A239-4129-A23C-983FCF3E339F}" type="parTrans" cxnId="{7BF67A51-6A74-4B0F-AED9-F6F6F229CA6E}">
      <dgm:prSet/>
      <dgm:spPr/>
      <dgm:t>
        <a:bodyPr/>
        <a:lstStyle/>
        <a:p>
          <a:endParaRPr lang="en-US"/>
        </a:p>
      </dgm:t>
    </dgm:pt>
    <dgm:pt modelId="{6C8B1C87-3864-4691-8CB7-05FCCF40656D}" type="sibTrans" cxnId="{7BF67A51-6A74-4B0F-AED9-F6F6F229CA6E}">
      <dgm:prSet/>
      <dgm:spPr/>
      <dgm:t>
        <a:bodyPr/>
        <a:lstStyle/>
        <a:p>
          <a:endParaRPr lang="en-US"/>
        </a:p>
      </dgm:t>
    </dgm:pt>
    <dgm:pt modelId="{2490B6E3-CF77-497A-A32C-2C7850EC1681}" type="pres">
      <dgm:prSet presAssocID="{0A1CE8E2-B29C-46E8-A470-184A33A74CA2}" presName="root" presStyleCnt="0">
        <dgm:presLayoutVars>
          <dgm:dir/>
          <dgm:resizeHandles val="exact"/>
        </dgm:presLayoutVars>
      </dgm:prSet>
      <dgm:spPr/>
    </dgm:pt>
    <dgm:pt modelId="{C4D2B2B2-6605-4DAC-8880-BC6F5A527EDE}" type="pres">
      <dgm:prSet presAssocID="{61C7B45A-34B3-4AB4-9405-7DFB6EEAD57D}" presName="compNode" presStyleCnt="0"/>
      <dgm:spPr/>
    </dgm:pt>
    <dgm:pt modelId="{52342B4B-8E44-4578-B44F-6789920F797D}" type="pres">
      <dgm:prSet presAssocID="{61C7B45A-34B3-4AB4-9405-7DFB6EEAD57D}" presName="bgRect" presStyleLbl="bgShp" presStyleIdx="0" presStyleCnt="4"/>
      <dgm:spPr/>
    </dgm:pt>
    <dgm:pt modelId="{89E571F2-5BE5-4EC1-A394-4ABB573D2671}" type="pres">
      <dgm:prSet presAssocID="{61C7B45A-34B3-4AB4-9405-7DFB6EEAD57D}"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raduation Cap"/>
        </a:ext>
      </dgm:extLst>
    </dgm:pt>
    <dgm:pt modelId="{A8114F38-AD02-4667-84CC-EC3362297ED8}" type="pres">
      <dgm:prSet presAssocID="{61C7B45A-34B3-4AB4-9405-7DFB6EEAD57D}" presName="spaceRect" presStyleCnt="0"/>
      <dgm:spPr/>
    </dgm:pt>
    <dgm:pt modelId="{95C71F78-8C9D-460F-A25B-EB375D7810F1}" type="pres">
      <dgm:prSet presAssocID="{61C7B45A-34B3-4AB4-9405-7DFB6EEAD57D}" presName="parTx" presStyleLbl="revTx" presStyleIdx="0" presStyleCnt="4">
        <dgm:presLayoutVars>
          <dgm:chMax val="0"/>
          <dgm:chPref val="0"/>
        </dgm:presLayoutVars>
      </dgm:prSet>
      <dgm:spPr/>
    </dgm:pt>
    <dgm:pt modelId="{31826477-EEEB-4AEE-BEE0-3E4CB3C7EC6C}" type="pres">
      <dgm:prSet presAssocID="{1EB9450D-959C-4E78-BF3B-D43A84151698}" presName="sibTrans" presStyleCnt="0"/>
      <dgm:spPr/>
    </dgm:pt>
    <dgm:pt modelId="{D738B971-D4D2-4EA0-9ABE-48A6F7E885FF}" type="pres">
      <dgm:prSet presAssocID="{C8D8665C-419E-4EFF-8BBF-8562C8E1612B}" presName="compNode" presStyleCnt="0"/>
      <dgm:spPr/>
    </dgm:pt>
    <dgm:pt modelId="{14514B2D-3CF7-4A10-B014-613AECAFAD9D}" type="pres">
      <dgm:prSet presAssocID="{C8D8665C-419E-4EFF-8BBF-8562C8E1612B}" presName="bgRect" presStyleLbl="bgShp" presStyleIdx="1" presStyleCnt="4"/>
      <dgm:spPr/>
    </dgm:pt>
    <dgm:pt modelId="{E3404EB2-EFC3-48B5-8ECE-5BF2E39E4E55}" type="pres">
      <dgm:prSet presAssocID="{C8D8665C-419E-4EFF-8BBF-8562C8E1612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ptain"/>
        </a:ext>
      </dgm:extLst>
    </dgm:pt>
    <dgm:pt modelId="{5ACEC5DF-425C-41D1-BE1E-941E7BBF8EDF}" type="pres">
      <dgm:prSet presAssocID="{C8D8665C-419E-4EFF-8BBF-8562C8E1612B}" presName="spaceRect" presStyleCnt="0"/>
      <dgm:spPr/>
    </dgm:pt>
    <dgm:pt modelId="{EE0450CE-1D05-461E-AF08-E4F0341797CD}" type="pres">
      <dgm:prSet presAssocID="{C8D8665C-419E-4EFF-8BBF-8562C8E1612B}" presName="parTx" presStyleLbl="revTx" presStyleIdx="1" presStyleCnt="4">
        <dgm:presLayoutVars>
          <dgm:chMax val="0"/>
          <dgm:chPref val="0"/>
        </dgm:presLayoutVars>
      </dgm:prSet>
      <dgm:spPr/>
    </dgm:pt>
    <dgm:pt modelId="{4E90DDA9-7680-4CCA-BC3D-497685A23A79}" type="pres">
      <dgm:prSet presAssocID="{0481F13D-1A1E-4D19-97D0-B1818AFF23BB}" presName="sibTrans" presStyleCnt="0"/>
      <dgm:spPr/>
    </dgm:pt>
    <dgm:pt modelId="{3C7BBE99-A9CB-4323-8F9C-F62CE1916E92}" type="pres">
      <dgm:prSet presAssocID="{83EB74CC-0BCF-44BD-837B-3FB0A9E6D9AD}" presName="compNode" presStyleCnt="0"/>
      <dgm:spPr/>
    </dgm:pt>
    <dgm:pt modelId="{7C65037A-509D-4411-BF50-2B7E2E1CADEA}" type="pres">
      <dgm:prSet presAssocID="{83EB74CC-0BCF-44BD-837B-3FB0A9E6D9AD}" presName="bgRect" presStyleLbl="bgShp" presStyleIdx="2" presStyleCnt="4"/>
      <dgm:spPr/>
    </dgm:pt>
    <dgm:pt modelId="{D70AEB82-3137-4B4A-9D6B-5B93BBA49D53}" type="pres">
      <dgm:prSet presAssocID="{83EB74CC-0BCF-44BD-837B-3FB0A9E6D9A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iploma Roll"/>
        </a:ext>
      </dgm:extLst>
    </dgm:pt>
    <dgm:pt modelId="{AF25DEE3-0DEE-4192-9628-9974D4306C3B}" type="pres">
      <dgm:prSet presAssocID="{83EB74CC-0BCF-44BD-837B-3FB0A9E6D9AD}" presName="spaceRect" presStyleCnt="0"/>
      <dgm:spPr/>
    </dgm:pt>
    <dgm:pt modelId="{CC34CAB2-8F17-48D7-A6E1-712C2463B747}" type="pres">
      <dgm:prSet presAssocID="{83EB74CC-0BCF-44BD-837B-3FB0A9E6D9AD}" presName="parTx" presStyleLbl="revTx" presStyleIdx="2" presStyleCnt="4">
        <dgm:presLayoutVars>
          <dgm:chMax val="0"/>
          <dgm:chPref val="0"/>
        </dgm:presLayoutVars>
      </dgm:prSet>
      <dgm:spPr/>
    </dgm:pt>
    <dgm:pt modelId="{CF03ADBB-BF41-4D6F-B1F6-2EAD57DB5332}" type="pres">
      <dgm:prSet presAssocID="{CCA993F2-26A8-402E-9212-5B2D7F7B2E18}" presName="sibTrans" presStyleCnt="0"/>
      <dgm:spPr/>
    </dgm:pt>
    <dgm:pt modelId="{4493C8F0-AC8E-4B5A-8DB9-1DDB1D1E74E2}" type="pres">
      <dgm:prSet presAssocID="{80B40EB5-7336-418A-A66E-5D4D4F47B4DA}" presName="compNode" presStyleCnt="0"/>
      <dgm:spPr/>
    </dgm:pt>
    <dgm:pt modelId="{B2146A84-244E-4585-A96B-0ADE65CB46B7}" type="pres">
      <dgm:prSet presAssocID="{80B40EB5-7336-418A-A66E-5D4D4F47B4DA}" presName="bgRect" presStyleLbl="bgShp" presStyleIdx="3" presStyleCnt="4"/>
      <dgm:spPr/>
    </dgm:pt>
    <dgm:pt modelId="{B89A1AC0-C194-4A7B-9AE0-5B732B53CD6B}" type="pres">
      <dgm:prSet presAssocID="{80B40EB5-7336-418A-A66E-5D4D4F47B4DA}"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3C0642FF-1C6E-4F26-AC86-D8D68CF17CB7}" type="pres">
      <dgm:prSet presAssocID="{80B40EB5-7336-418A-A66E-5D4D4F47B4DA}" presName="spaceRect" presStyleCnt="0"/>
      <dgm:spPr/>
    </dgm:pt>
    <dgm:pt modelId="{E75C8158-832B-4369-B25E-9C308BD67342}" type="pres">
      <dgm:prSet presAssocID="{80B40EB5-7336-418A-A66E-5D4D4F47B4DA}" presName="parTx" presStyleLbl="revTx" presStyleIdx="3" presStyleCnt="4">
        <dgm:presLayoutVars>
          <dgm:chMax val="0"/>
          <dgm:chPref val="0"/>
        </dgm:presLayoutVars>
      </dgm:prSet>
      <dgm:spPr/>
    </dgm:pt>
  </dgm:ptLst>
  <dgm:cxnLst>
    <dgm:cxn modelId="{F4E01B02-F9E0-4809-944D-997705D625D3}" type="presOf" srcId="{C8D8665C-419E-4EFF-8BBF-8562C8E1612B}" destId="{EE0450CE-1D05-461E-AF08-E4F0341797CD}" srcOrd="0" destOrd="0" presId="urn:microsoft.com/office/officeart/2018/2/layout/IconVerticalSolidList"/>
    <dgm:cxn modelId="{ED01D539-E96C-4603-B58B-E8D9921A4425}" type="presOf" srcId="{61C7B45A-34B3-4AB4-9405-7DFB6EEAD57D}" destId="{95C71F78-8C9D-460F-A25B-EB375D7810F1}" srcOrd="0" destOrd="0" presId="urn:microsoft.com/office/officeart/2018/2/layout/IconVerticalSolidList"/>
    <dgm:cxn modelId="{36866D61-B756-46D8-9981-BEE3F69AA07C}" srcId="{0A1CE8E2-B29C-46E8-A470-184A33A74CA2}" destId="{83EB74CC-0BCF-44BD-837B-3FB0A9E6D9AD}" srcOrd="2" destOrd="0" parTransId="{AE6F4824-C250-41A8-8578-A476F0C6F10F}" sibTransId="{CCA993F2-26A8-402E-9212-5B2D7F7B2E18}"/>
    <dgm:cxn modelId="{7BF67A51-6A74-4B0F-AED9-F6F6F229CA6E}" srcId="{0A1CE8E2-B29C-46E8-A470-184A33A74CA2}" destId="{80B40EB5-7336-418A-A66E-5D4D4F47B4DA}" srcOrd="3" destOrd="0" parTransId="{E795DF19-A239-4129-A23C-983FCF3E339F}" sibTransId="{6C8B1C87-3864-4691-8CB7-05FCCF40656D}"/>
    <dgm:cxn modelId="{A82E1458-CBA4-4ED7-A778-FF2F72F5AFE1}" srcId="{0A1CE8E2-B29C-46E8-A470-184A33A74CA2}" destId="{C8D8665C-419E-4EFF-8BBF-8562C8E1612B}" srcOrd="1" destOrd="0" parTransId="{3821036A-8AAA-4E61-9D4B-5A965899853D}" sibTransId="{0481F13D-1A1E-4D19-97D0-B1818AFF23BB}"/>
    <dgm:cxn modelId="{4066FC8B-2514-417B-AAE5-DA44F610D028}" type="presOf" srcId="{80B40EB5-7336-418A-A66E-5D4D4F47B4DA}" destId="{E75C8158-832B-4369-B25E-9C308BD67342}" srcOrd="0" destOrd="0" presId="urn:microsoft.com/office/officeart/2018/2/layout/IconVerticalSolidList"/>
    <dgm:cxn modelId="{98A93AB1-4C48-4524-B9FB-AA264AF21AB7}" srcId="{0A1CE8E2-B29C-46E8-A470-184A33A74CA2}" destId="{61C7B45A-34B3-4AB4-9405-7DFB6EEAD57D}" srcOrd="0" destOrd="0" parTransId="{50598383-7800-4990-BF69-A88C56246207}" sibTransId="{1EB9450D-959C-4E78-BF3B-D43A84151698}"/>
    <dgm:cxn modelId="{5A989BB2-2623-4C36-84D5-0E686861E8E2}" type="presOf" srcId="{83EB74CC-0BCF-44BD-837B-3FB0A9E6D9AD}" destId="{CC34CAB2-8F17-48D7-A6E1-712C2463B747}" srcOrd="0" destOrd="0" presId="urn:microsoft.com/office/officeart/2018/2/layout/IconVerticalSolidList"/>
    <dgm:cxn modelId="{66C0A9E3-82ED-4C11-88AB-D07218F1CC00}" type="presOf" srcId="{0A1CE8E2-B29C-46E8-A470-184A33A74CA2}" destId="{2490B6E3-CF77-497A-A32C-2C7850EC1681}" srcOrd="0" destOrd="0" presId="urn:microsoft.com/office/officeart/2018/2/layout/IconVerticalSolidList"/>
    <dgm:cxn modelId="{3872657A-8C12-425B-829C-CB03CA3E2C36}" type="presParOf" srcId="{2490B6E3-CF77-497A-A32C-2C7850EC1681}" destId="{C4D2B2B2-6605-4DAC-8880-BC6F5A527EDE}" srcOrd="0" destOrd="0" presId="urn:microsoft.com/office/officeart/2018/2/layout/IconVerticalSolidList"/>
    <dgm:cxn modelId="{68C34C55-73E2-4B72-97F5-B00E1F0BD90F}" type="presParOf" srcId="{C4D2B2B2-6605-4DAC-8880-BC6F5A527EDE}" destId="{52342B4B-8E44-4578-B44F-6789920F797D}" srcOrd="0" destOrd="0" presId="urn:microsoft.com/office/officeart/2018/2/layout/IconVerticalSolidList"/>
    <dgm:cxn modelId="{3F0B1B7A-D6A9-458A-B64D-42088F416271}" type="presParOf" srcId="{C4D2B2B2-6605-4DAC-8880-BC6F5A527EDE}" destId="{89E571F2-5BE5-4EC1-A394-4ABB573D2671}" srcOrd="1" destOrd="0" presId="urn:microsoft.com/office/officeart/2018/2/layout/IconVerticalSolidList"/>
    <dgm:cxn modelId="{A60A14A1-9D75-458F-922D-83C8346B1344}" type="presParOf" srcId="{C4D2B2B2-6605-4DAC-8880-BC6F5A527EDE}" destId="{A8114F38-AD02-4667-84CC-EC3362297ED8}" srcOrd="2" destOrd="0" presId="urn:microsoft.com/office/officeart/2018/2/layout/IconVerticalSolidList"/>
    <dgm:cxn modelId="{7DF82F39-74F1-4137-B773-F808551354BA}" type="presParOf" srcId="{C4D2B2B2-6605-4DAC-8880-BC6F5A527EDE}" destId="{95C71F78-8C9D-460F-A25B-EB375D7810F1}" srcOrd="3" destOrd="0" presId="urn:microsoft.com/office/officeart/2018/2/layout/IconVerticalSolidList"/>
    <dgm:cxn modelId="{ECBE16AB-2F10-4EC2-BFC4-CD83C5F5B276}" type="presParOf" srcId="{2490B6E3-CF77-497A-A32C-2C7850EC1681}" destId="{31826477-EEEB-4AEE-BEE0-3E4CB3C7EC6C}" srcOrd="1" destOrd="0" presId="urn:microsoft.com/office/officeart/2018/2/layout/IconVerticalSolidList"/>
    <dgm:cxn modelId="{F469BF31-8A76-4246-B6CF-2BD39AACBBEF}" type="presParOf" srcId="{2490B6E3-CF77-497A-A32C-2C7850EC1681}" destId="{D738B971-D4D2-4EA0-9ABE-48A6F7E885FF}" srcOrd="2" destOrd="0" presId="urn:microsoft.com/office/officeart/2018/2/layout/IconVerticalSolidList"/>
    <dgm:cxn modelId="{4CDE7857-6AE0-4209-9A5A-0D826CCF42ED}" type="presParOf" srcId="{D738B971-D4D2-4EA0-9ABE-48A6F7E885FF}" destId="{14514B2D-3CF7-4A10-B014-613AECAFAD9D}" srcOrd="0" destOrd="0" presId="urn:microsoft.com/office/officeart/2018/2/layout/IconVerticalSolidList"/>
    <dgm:cxn modelId="{6390F44B-C36F-48C1-AD54-AE34F9E99CC6}" type="presParOf" srcId="{D738B971-D4D2-4EA0-9ABE-48A6F7E885FF}" destId="{E3404EB2-EFC3-48B5-8ECE-5BF2E39E4E55}" srcOrd="1" destOrd="0" presId="urn:microsoft.com/office/officeart/2018/2/layout/IconVerticalSolidList"/>
    <dgm:cxn modelId="{B2B26E63-6086-4B0C-8DF0-7293E4C6F5A1}" type="presParOf" srcId="{D738B971-D4D2-4EA0-9ABE-48A6F7E885FF}" destId="{5ACEC5DF-425C-41D1-BE1E-941E7BBF8EDF}" srcOrd="2" destOrd="0" presId="urn:microsoft.com/office/officeart/2018/2/layout/IconVerticalSolidList"/>
    <dgm:cxn modelId="{780BBFFE-4000-454B-9728-B3506EF17C49}" type="presParOf" srcId="{D738B971-D4D2-4EA0-9ABE-48A6F7E885FF}" destId="{EE0450CE-1D05-461E-AF08-E4F0341797CD}" srcOrd="3" destOrd="0" presId="urn:microsoft.com/office/officeart/2018/2/layout/IconVerticalSolidList"/>
    <dgm:cxn modelId="{FD3ECA2A-4D37-418E-A8EB-8E4D47FD6797}" type="presParOf" srcId="{2490B6E3-CF77-497A-A32C-2C7850EC1681}" destId="{4E90DDA9-7680-4CCA-BC3D-497685A23A79}" srcOrd="3" destOrd="0" presId="urn:microsoft.com/office/officeart/2018/2/layout/IconVerticalSolidList"/>
    <dgm:cxn modelId="{C446C097-60F6-4B50-81D7-5D397E551A4A}" type="presParOf" srcId="{2490B6E3-CF77-497A-A32C-2C7850EC1681}" destId="{3C7BBE99-A9CB-4323-8F9C-F62CE1916E92}" srcOrd="4" destOrd="0" presId="urn:microsoft.com/office/officeart/2018/2/layout/IconVerticalSolidList"/>
    <dgm:cxn modelId="{0AED3FF7-35F6-445A-82E7-B33A05615898}" type="presParOf" srcId="{3C7BBE99-A9CB-4323-8F9C-F62CE1916E92}" destId="{7C65037A-509D-4411-BF50-2B7E2E1CADEA}" srcOrd="0" destOrd="0" presId="urn:microsoft.com/office/officeart/2018/2/layout/IconVerticalSolidList"/>
    <dgm:cxn modelId="{81EDEE67-2CEF-4E8B-94CD-7D08A3BF6CA1}" type="presParOf" srcId="{3C7BBE99-A9CB-4323-8F9C-F62CE1916E92}" destId="{D70AEB82-3137-4B4A-9D6B-5B93BBA49D53}" srcOrd="1" destOrd="0" presId="urn:microsoft.com/office/officeart/2018/2/layout/IconVerticalSolidList"/>
    <dgm:cxn modelId="{0C903326-F744-4E94-8641-D0CC26C1FF82}" type="presParOf" srcId="{3C7BBE99-A9CB-4323-8F9C-F62CE1916E92}" destId="{AF25DEE3-0DEE-4192-9628-9974D4306C3B}" srcOrd="2" destOrd="0" presId="urn:microsoft.com/office/officeart/2018/2/layout/IconVerticalSolidList"/>
    <dgm:cxn modelId="{0C20E492-DCCF-4E40-B75B-DD9A51F2C33E}" type="presParOf" srcId="{3C7BBE99-A9CB-4323-8F9C-F62CE1916E92}" destId="{CC34CAB2-8F17-48D7-A6E1-712C2463B747}" srcOrd="3" destOrd="0" presId="urn:microsoft.com/office/officeart/2018/2/layout/IconVerticalSolidList"/>
    <dgm:cxn modelId="{937391A6-ED3A-4442-BABC-2AD8EB73BCCE}" type="presParOf" srcId="{2490B6E3-CF77-497A-A32C-2C7850EC1681}" destId="{CF03ADBB-BF41-4D6F-B1F6-2EAD57DB5332}" srcOrd="5" destOrd="0" presId="urn:microsoft.com/office/officeart/2018/2/layout/IconVerticalSolidList"/>
    <dgm:cxn modelId="{31599789-815E-4530-9BA3-47048A22AB73}" type="presParOf" srcId="{2490B6E3-CF77-497A-A32C-2C7850EC1681}" destId="{4493C8F0-AC8E-4B5A-8DB9-1DDB1D1E74E2}" srcOrd="6" destOrd="0" presId="urn:microsoft.com/office/officeart/2018/2/layout/IconVerticalSolidList"/>
    <dgm:cxn modelId="{89B36DF8-ED79-4016-B5E8-EC00F93717C1}" type="presParOf" srcId="{4493C8F0-AC8E-4B5A-8DB9-1DDB1D1E74E2}" destId="{B2146A84-244E-4585-A96B-0ADE65CB46B7}" srcOrd="0" destOrd="0" presId="urn:microsoft.com/office/officeart/2018/2/layout/IconVerticalSolidList"/>
    <dgm:cxn modelId="{6857563F-2C21-49BD-95B6-6911F86D2F5F}" type="presParOf" srcId="{4493C8F0-AC8E-4B5A-8DB9-1DDB1D1E74E2}" destId="{B89A1AC0-C194-4A7B-9AE0-5B732B53CD6B}" srcOrd="1" destOrd="0" presId="urn:microsoft.com/office/officeart/2018/2/layout/IconVerticalSolidList"/>
    <dgm:cxn modelId="{A7AB8B74-F53C-442A-AFED-5362547A4B96}" type="presParOf" srcId="{4493C8F0-AC8E-4B5A-8DB9-1DDB1D1E74E2}" destId="{3C0642FF-1C6E-4F26-AC86-D8D68CF17CB7}" srcOrd="2" destOrd="0" presId="urn:microsoft.com/office/officeart/2018/2/layout/IconVerticalSolidList"/>
    <dgm:cxn modelId="{305EEC82-F890-4E5F-BEA3-97C066E8DCBD}" type="presParOf" srcId="{4493C8F0-AC8E-4B5A-8DB9-1DDB1D1E74E2}" destId="{E75C8158-832B-4369-B25E-9C308BD6734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42B4B-8E44-4578-B44F-6789920F797D}">
      <dsp:nvSpPr>
        <dsp:cNvPr id="0" name=""/>
        <dsp:cNvSpPr/>
      </dsp:nvSpPr>
      <dsp:spPr>
        <a:xfrm>
          <a:off x="0" y="1698"/>
          <a:ext cx="9618133" cy="86107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E571F2-5BE5-4EC1-A394-4ABB573D2671}">
      <dsp:nvSpPr>
        <dsp:cNvPr id="0" name=""/>
        <dsp:cNvSpPr/>
      </dsp:nvSpPr>
      <dsp:spPr>
        <a:xfrm>
          <a:off x="260473" y="195439"/>
          <a:ext cx="473588" cy="4735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5C71F78-8C9D-460F-A25B-EB375D7810F1}">
      <dsp:nvSpPr>
        <dsp:cNvPr id="0" name=""/>
        <dsp:cNvSpPr/>
      </dsp:nvSpPr>
      <dsp:spPr>
        <a:xfrm>
          <a:off x="994536" y="1698"/>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55650">
            <a:lnSpc>
              <a:spcPct val="90000"/>
            </a:lnSpc>
            <a:spcBef>
              <a:spcPct val="0"/>
            </a:spcBef>
            <a:spcAft>
              <a:spcPct val="35000"/>
            </a:spcAft>
            <a:buNone/>
          </a:pPr>
          <a:r>
            <a:rPr lang="en-US" sz="1700" kern="1200"/>
            <a:t>Angela Vargas is a software development student based in Loveland, Colorado, currently working as a Micromaintenece Tech for Target. She has experience with IT and in computer mechanics.</a:t>
          </a:r>
        </a:p>
      </dsp:txBody>
      <dsp:txXfrm>
        <a:off x="994536" y="1698"/>
        <a:ext cx="8623596" cy="861070"/>
      </dsp:txXfrm>
    </dsp:sp>
    <dsp:sp modelId="{14514B2D-3CF7-4A10-B014-613AECAFAD9D}">
      <dsp:nvSpPr>
        <dsp:cNvPr id="0" name=""/>
        <dsp:cNvSpPr/>
      </dsp:nvSpPr>
      <dsp:spPr>
        <a:xfrm>
          <a:off x="0" y="1078036"/>
          <a:ext cx="9618133" cy="86107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404EB2-EFC3-48B5-8ECE-5BF2E39E4E55}">
      <dsp:nvSpPr>
        <dsp:cNvPr id="0" name=""/>
        <dsp:cNvSpPr/>
      </dsp:nvSpPr>
      <dsp:spPr>
        <a:xfrm>
          <a:off x="260473" y="1271777"/>
          <a:ext cx="473588" cy="4735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E0450CE-1D05-461E-AF08-E4F0341797CD}">
      <dsp:nvSpPr>
        <dsp:cNvPr id="0" name=""/>
        <dsp:cNvSpPr/>
      </dsp:nvSpPr>
      <dsp:spPr>
        <a:xfrm>
          <a:off x="994536" y="1078036"/>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55650">
            <a:lnSpc>
              <a:spcPct val="90000"/>
            </a:lnSpc>
            <a:spcBef>
              <a:spcPct val="0"/>
            </a:spcBef>
            <a:spcAft>
              <a:spcPct val="35000"/>
            </a:spcAft>
            <a:buNone/>
          </a:pPr>
          <a:r>
            <a:rPr lang="en-US" sz="1700" kern="1200"/>
            <a:t>Tevyah Hanley is a software development student based in Columbus, Ohio, currently working in IT. He is building experience in both frontend and backend development.</a:t>
          </a:r>
        </a:p>
      </dsp:txBody>
      <dsp:txXfrm>
        <a:off x="994536" y="1078036"/>
        <a:ext cx="8623596" cy="861070"/>
      </dsp:txXfrm>
    </dsp:sp>
    <dsp:sp modelId="{7C65037A-509D-4411-BF50-2B7E2E1CADEA}">
      <dsp:nvSpPr>
        <dsp:cNvPr id="0" name=""/>
        <dsp:cNvSpPr/>
      </dsp:nvSpPr>
      <dsp:spPr>
        <a:xfrm>
          <a:off x="0" y="2154374"/>
          <a:ext cx="9618133" cy="86107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0AEB82-3137-4B4A-9D6B-5B93BBA49D53}">
      <dsp:nvSpPr>
        <dsp:cNvPr id="0" name=""/>
        <dsp:cNvSpPr/>
      </dsp:nvSpPr>
      <dsp:spPr>
        <a:xfrm>
          <a:off x="260473" y="2348115"/>
          <a:ext cx="473588" cy="4735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C34CAB2-8F17-48D7-A6E1-712C2463B747}">
      <dsp:nvSpPr>
        <dsp:cNvPr id="0" name=""/>
        <dsp:cNvSpPr/>
      </dsp:nvSpPr>
      <dsp:spPr>
        <a:xfrm>
          <a:off x="994536" y="2154374"/>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55650">
            <a:lnSpc>
              <a:spcPct val="90000"/>
            </a:lnSpc>
            <a:spcBef>
              <a:spcPct val="0"/>
            </a:spcBef>
            <a:spcAft>
              <a:spcPct val="35000"/>
            </a:spcAft>
            <a:buNone/>
          </a:pPr>
          <a:r>
            <a:rPr lang="en-US" sz="1700" kern="1200"/>
            <a:t>Cameron Mendez is a software development student based in Fort Worth, Texas, currently working in FO Network Design. Developing hands on experience in all aspects of the software development lifecycle.</a:t>
          </a:r>
        </a:p>
      </dsp:txBody>
      <dsp:txXfrm>
        <a:off x="994536" y="2154374"/>
        <a:ext cx="8623596" cy="861070"/>
      </dsp:txXfrm>
    </dsp:sp>
    <dsp:sp modelId="{B2146A84-244E-4585-A96B-0ADE65CB46B7}">
      <dsp:nvSpPr>
        <dsp:cNvPr id="0" name=""/>
        <dsp:cNvSpPr/>
      </dsp:nvSpPr>
      <dsp:spPr>
        <a:xfrm>
          <a:off x="0" y="3230712"/>
          <a:ext cx="9618133" cy="861070"/>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9A1AC0-C194-4A7B-9AE0-5B732B53CD6B}">
      <dsp:nvSpPr>
        <dsp:cNvPr id="0" name=""/>
        <dsp:cNvSpPr/>
      </dsp:nvSpPr>
      <dsp:spPr>
        <a:xfrm>
          <a:off x="260473" y="3424453"/>
          <a:ext cx="473588" cy="47358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75C8158-832B-4369-B25E-9C308BD67342}">
      <dsp:nvSpPr>
        <dsp:cNvPr id="0" name=""/>
        <dsp:cNvSpPr/>
      </dsp:nvSpPr>
      <dsp:spPr>
        <a:xfrm>
          <a:off x="994536" y="3230712"/>
          <a:ext cx="8623596" cy="8610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130" tIns="91130" rIns="91130" bIns="91130" numCol="1" spcCol="1270" anchor="ctr" anchorCtr="0">
          <a:noAutofit/>
        </a:bodyPr>
        <a:lstStyle/>
        <a:p>
          <a:pPr marL="0" lvl="0" indent="0" algn="l" defTabSz="755650">
            <a:lnSpc>
              <a:spcPct val="90000"/>
            </a:lnSpc>
            <a:spcBef>
              <a:spcPct val="0"/>
            </a:spcBef>
            <a:spcAft>
              <a:spcPct val="35000"/>
            </a:spcAft>
            <a:buNone/>
          </a:pPr>
          <a:r>
            <a:rPr lang="en-US" sz="1700" kern="1200"/>
            <a:t>Zachary is a software development student based in Modesto,California. He currently is working outside of the IT profession but hopes witha degree in the field to transfer into it. The experience from this program has been incredibly beneficial to his skills.</a:t>
          </a:r>
        </a:p>
      </dsp:txBody>
      <dsp:txXfrm>
        <a:off x="994536" y="3230712"/>
        <a:ext cx="8623596" cy="86107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AACF69-12A7-4020-A1C0-3B9DFB7B7A46}"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2294231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AACF69-12A7-4020-A1C0-3B9DFB7B7A46}"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3448070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AACF69-12A7-4020-A1C0-3B9DFB7B7A46}"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4044941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AACF69-12A7-4020-A1C0-3B9DFB7B7A46}"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2624187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4AACF69-12A7-4020-A1C0-3B9DFB7B7A46}" type="datetimeFigureOut">
              <a:rPr lang="en-US" smtClean="0"/>
              <a:t>5/15/2026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3685477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4AACF69-12A7-4020-A1C0-3B9DFB7B7A46}" type="datetimeFigureOut">
              <a:rPr lang="en-US" smtClean="0"/>
              <a:t>5/15/2026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1783377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AACF69-12A7-4020-A1C0-3B9DFB7B7A46}" type="datetimeFigureOut">
              <a:rPr lang="en-US" smtClean="0"/>
              <a:t>5/15/2026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1690635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4AACF69-12A7-4020-A1C0-3B9DFB7B7A46}"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1073331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AACF69-12A7-4020-A1C0-3B9DFB7B7A46}" type="datetimeFigureOut">
              <a:rPr lang="en-US" smtClean="0"/>
              <a:t>5/15/2026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77112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AACF69-12A7-4020-A1C0-3B9DFB7B7A46}"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3838359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AACF69-12A7-4020-A1C0-3B9DFB7B7A46}"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2116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AACF69-12A7-4020-A1C0-3B9DFB7B7A46}"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24520181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AACF69-12A7-4020-A1C0-3B9DFB7B7A46}"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743532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AACF69-12A7-4020-A1C0-3B9DFB7B7A46}"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4394964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AACF69-12A7-4020-A1C0-3B9DFB7B7A46}"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14275453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AACF69-12A7-4020-A1C0-3B9DFB7B7A46}" type="datetimeFigureOut">
              <a:rPr lang="en-US" smtClean="0"/>
              <a:t>5/15/2026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926AF5-D09B-44CF-8591-FE53EE12DAF5}" type="slidenum">
              <a:rPr lang="en-US" smtClean="0"/>
              <a:t>‹#›</a:t>
            </a:fld>
            <a:endParaRPr lang="en-US"/>
          </a:p>
        </p:txBody>
      </p:sp>
    </p:spTree>
    <p:extLst>
      <p:ext uri="{BB962C8B-B14F-4D97-AF65-F5344CB8AC3E}">
        <p14:creationId xmlns:p14="http://schemas.microsoft.com/office/powerpoint/2010/main" val="3509495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4AACF69-12A7-4020-A1C0-3B9DFB7B7A46}" type="datetimeFigureOut">
              <a:rPr lang="en-US" smtClean="0"/>
              <a:t>5/15/2026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2926AF5-D09B-44CF-8591-FE53EE12DAF5}" type="slidenum">
              <a:rPr lang="en-US" smtClean="0"/>
              <a:t>‹#›</a:t>
            </a:fld>
            <a:endParaRPr lang="en-US"/>
          </a:p>
        </p:txBody>
      </p:sp>
    </p:spTree>
    <p:extLst>
      <p:ext uri="{BB962C8B-B14F-4D97-AF65-F5344CB8AC3E}">
        <p14:creationId xmlns:p14="http://schemas.microsoft.com/office/powerpoint/2010/main" val="149106863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tmp"/><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C5A98-3298-EEC7-C6CF-4C105AD2B2EE}"/>
              </a:ext>
            </a:extLst>
          </p:cNvPr>
          <p:cNvSpPr>
            <a:spLocks noGrp="1"/>
          </p:cNvSpPr>
          <p:nvPr>
            <p:ph type="ctrTitle"/>
          </p:nvPr>
        </p:nvSpPr>
        <p:spPr/>
        <p:txBody>
          <a:bodyPr/>
          <a:lstStyle/>
          <a:p>
            <a:r>
              <a:rPr lang="en-US" dirty="0"/>
              <a:t>Moffat Bay Lodge</a:t>
            </a:r>
          </a:p>
        </p:txBody>
      </p:sp>
      <p:sp>
        <p:nvSpPr>
          <p:cNvPr id="3" name="Subtitle 2">
            <a:extLst>
              <a:ext uri="{FF2B5EF4-FFF2-40B4-BE49-F238E27FC236}">
                <a16:creationId xmlns:a16="http://schemas.microsoft.com/office/drawing/2014/main" id="{EC4EEDDD-6C41-EAD8-D954-62CBEC99C3E9}"/>
              </a:ext>
            </a:extLst>
          </p:cNvPr>
          <p:cNvSpPr>
            <a:spLocks noGrp="1"/>
          </p:cNvSpPr>
          <p:nvPr>
            <p:ph type="subTitle" idx="1"/>
          </p:nvPr>
        </p:nvSpPr>
        <p:spPr/>
        <p:txBody>
          <a:bodyPr>
            <a:normAutofit fontScale="92500" lnSpcReduction="10000"/>
          </a:bodyPr>
          <a:lstStyle/>
          <a:p>
            <a:r>
              <a:rPr lang="en-US" dirty="0"/>
              <a:t>CSD-460</a:t>
            </a:r>
          </a:p>
          <a:p>
            <a:r>
              <a:rPr lang="en-US" dirty="0"/>
              <a:t>Bravo Team</a:t>
            </a:r>
          </a:p>
          <a:p>
            <a:r>
              <a:rPr lang="en-US" dirty="0"/>
              <a:t>5/6/26</a:t>
            </a:r>
          </a:p>
        </p:txBody>
      </p:sp>
    </p:spTree>
    <p:extLst>
      <p:ext uri="{BB962C8B-B14F-4D97-AF65-F5344CB8AC3E}">
        <p14:creationId xmlns:p14="http://schemas.microsoft.com/office/powerpoint/2010/main" val="3543287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8239B6-C625-0B59-792D-6AE1328BBF4C}"/>
              </a:ext>
            </a:extLst>
          </p:cNvPr>
          <p:cNvPicPr>
            <a:picLocks noChangeAspect="1"/>
          </p:cNvPicPr>
          <p:nvPr/>
        </p:nvPicPr>
        <p:blipFill>
          <a:blip r:embed="rId2">
            <a:extLst>
              <a:ext uri="{28A0092B-C50C-407E-A947-70E740481C1C}">
                <a14:useLocalDpi xmlns:a14="http://schemas.microsoft.com/office/drawing/2010/main" val="0"/>
              </a:ext>
            </a:extLst>
          </a:blip>
          <a:srcRect l="39711" r="90" b="3"/>
          <a:stretch>
            <a:fillRect/>
          </a:stretch>
        </p:blipFill>
        <p:spPr>
          <a:xfrm>
            <a:off x="643467" y="663293"/>
            <a:ext cx="2500368" cy="3115034"/>
          </a:xfrm>
          <a:prstGeom prst="rect">
            <a:avLst/>
          </a:prstGeom>
        </p:spPr>
      </p:pic>
      <p:pic>
        <p:nvPicPr>
          <p:cNvPr id="11" name="Picture 10">
            <a:extLst>
              <a:ext uri="{FF2B5EF4-FFF2-40B4-BE49-F238E27FC236}">
                <a16:creationId xmlns:a16="http://schemas.microsoft.com/office/drawing/2014/main" id="{1A4E7B49-1C20-B89C-6E00-C0D38161C7CE}"/>
              </a:ext>
            </a:extLst>
          </p:cNvPr>
          <p:cNvPicPr>
            <a:picLocks noChangeAspect="1"/>
          </p:cNvPicPr>
          <p:nvPr/>
        </p:nvPicPr>
        <p:blipFill>
          <a:blip r:embed="rId3">
            <a:extLst>
              <a:ext uri="{28A0092B-C50C-407E-A947-70E740481C1C}">
                <a14:useLocalDpi xmlns:a14="http://schemas.microsoft.com/office/drawing/2010/main" val="0"/>
              </a:ext>
            </a:extLst>
          </a:blip>
          <a:srcRect l="4632" r="16759" b="2"/>
          <a:stretch>
            <a:fillRect/>
          </a:stretch>
        </p:blipFill>
        <p:spPr>
          <a:xfrm>
            <a:off x="3460434" y="640256"/>
            <a:ext cx="2484967" cy="3161109"/>
          </a:xfrm>
          <a:prstGeom prst="rect">
            <a:avLst/>
          </a:prstGeom>
        </p:spPr>
      </p:pic>
      <p:pic>
        <p:nvPicPr>
          <p:cNvPr id="9" name="Picture 8">
            <a:extLst>
              <a:ext uri="{FF2B5EF4-FFF2-40B4-BE49-F238E27FC236}">
                <a16:creationId xmlns:a16="http://schemas.microsoft.com/office/drawing/2014/main" id="{98C4D218-3AA6-6385-335E-AB7C24A8AC7D}"/>
              </a:ext>
            </a:extLst>
          </p:cNvPr>
          <p:cNvPicPr>
            <a:picLocks noChangeAspect="1"/>
          </p:cNvPicPr>
          <p:nvPr/>
        </p:nvPicPr>
        <p:blipFill>
          <a:blip r:embed="rId4">
            <a:extLst>
              <a:ext uri="{28A0092B-C50C-407E-A947-70E740481C1C}">
                <a14:useLocalDpi xmlns:a14="http://schemas.microsoft.com/office/drawing/2010/main" val="0"/>
              </a:ext>
            </a:extLst>
          </a:blip>
          <a:srcRect l="8748" r="15496" b="-2"/>
          <a:stretch>
            <a:fillRect/>
          </a:stretch>
        </p:blipFill>
        <p:spPr>
          <a:xfrm>
            <a:off x="6262000" y="676059"/>
            <a:ext cx="2484967" cy="3140877"/>
          </a:xfrm>
          <a:prstGeom prst="rect">
            <a:avLst/>
          </a:prstGeom>
        </p:spPr>
      </p:pic>
      <p:pic>
        <p:nvPicPr>
          <p:cNvPr id="7" name="Picture 6">
            <a:extLst>
              <a:ext uri="{FF2B5EF4-FFF2-40B4-BE49-F238E27FC236}">
                <a16:creationId xmlns:a16="http://schemas.microsoft.com/office/drawing/2014/main" id="{B8BD41DF-91B7-58FA-F13F-AF281824F3B5}"/>
              </a:ext>
            </a:extLst>
          </p:cNvPr>
          <p:cNvPicPr>
            <a:picLocks noChangeAspect="1"/>
          </p:cNvPicPr>
          <p:nvPr/>
        </p:nvPicPr>
        <p:blipFill>
          <a:blip r:embed="rId5">
            <a:extLst>
              <a:ext uri="{28A0092B-C50C-407E-A947-70E740481C1C}">
                <a14:useLocalDpi xmlns:a14="http://schemas.microsoft.com/office/drawing/2010/main" val="0"/>
              </a:ext>
            </a:extLst>
          </a:blip>
          <a:srcRect l="5940"/>
          <a:stretch>
            <a:fillRect/>
          </a:stretch>
        </p:blipFill>
        <p:spPr>
          <a:xfrm rot="5400000">
            <a:off x="8747810" y="1004013"/>
            <a:ext cx="3116478" cy="2484966"/>
          </a:xfrm>
          <a:prstGeom prst="rect">
            <a:avLst/>
          </a:prstGeom>
        </p:spPr>
      </p:pic>
      <p:sp>
        <p:nvSpPr>
          <p:cNvPr id="2" name="Title 1">
            <a:extLst>
              <a:ext uri="{FF2B5EF4-FFF2-40B4-BE49-F238E27FC236}">
                <a16:creationId xmlns:a16="http://schemas.microsoft.com/office/drawing/2014/main" id="{BE79B16A-2A1F-0425-982C-CB6472C6923B}"/>
              </a:ext>
            </a:extLst>
          </p:cNvPr>
          <p:cNvSpPr>
            <a:spLocks noGrp="1"/>
          </p:cNvSpPr>
          <p:nvPr>
            <p:ph type="title"/>
          </p:nvPr>
        </p:nvSpPr>
        <p:spPr>
          <a:xfrm>
            <a:off x="1086338" y="4441621"/>
            <a:ext cx="4626707" cy="1562517"/>
          </a:xfrm>
        </p:spPr>
        <p:txBody>
          <a:bodyPr anchor="ctr">
            <a:normAutofit/>
          </a:bodyPr>
          <a:lstStyle/>
          <a:p>
            <a:r>
              <a:rPr lang="en-US" sz="3200"/>
              <a:t>Meet the Team</a:t>
            </a:r>
          </a:p>
        </p:txBody>
      </p:sp>
      <p:sp>
        <p:nvSpPr>
          <p:cNvPr id="30" name="TextBox 29">
            <a:extLst>
              <a:ext uri="{FF2B5EF4-FFF2-40B4-BE49-F238E27FC236}">
                <a16:creationId xmlns:a16="http://schemas.microsoft.com/office/drawing/2014/main" id="{70D5367F-EFED-AA38-5367-AE538742F917}"/>
              </a:ext>
            </a:extLst>
          </p:cNvPr>
          <p:cNvSpPr txBox="1"/>
          <p:nvPr/>
        </p:nvSpPr>
        <p:spPr>
          <a:xfrm>
            <a:off x="643467" y="3816936"/>
            <a:ext cx="2484967" cy="369332"/>
          </a:xfrm>
          <a:prstGeom prst="rect">
            <a:avLst/>
          </a:prstGeom>
          <a:noFill/>
        </p:spPr>
        <p:txBody>
          <a:bodyPr wrap="square" rtlCol="0">
            <a:spAutoFit/>
          </a:bodyPr>
          <a:lstStyle/>
          <a:p>
            <a:r>
              <a:rPr lang="en-US" dirty="0"/>
              <a:t>Angela Vargas</a:t>
            </a:r>
          </a:p>
        </p:txBody>
      </p:sp>
      <p:sp>
        <p:nvSpPr>
          <p:cNvPr id="31" name="TextBox 30">
            <a:extLst>
              <a:ext uri="{FF2B5EF4-FFF2-40B4-BE49-F238E27FC236}">
                <a16:creationId xmlns:a16="http://schemas.microsoft.com/office/drawing/2014/main" id="{363D72A9-A00D-4349-B647-0B46F32E0220}"/>
              </a:ext>
            </a:extLst>
          </p:cNvPr>
          <p:cNvSpPr txBox="1"/>
          <p:nvPr/>
        </p:nvSpPr>
        <p:spPr>
          <a:xfrm>
            <a:off x="3460434" y="3835070"/>
            <a:ext cx="2484967" cy="369332"/>
          </a:xfrm>
          <a:prstGeom prst="rect">
            <a:avLst/>
          </a:prstGeom>
          <a:noFill/>
        </p:spPr>
        <p:txBody>
          <a:bodyPr wrap="square" rtlCol="0">
            <a:spAutoFit/>
          </a:bodyPr>
          <a:lstStyle/>
          <a:p>
            <a:r>
              <a:rPr lang="en-US" dirty="0"/>
              <a:t>Zachary Anderson</a:t>
            </a:r>
          </a:p>
        </p:txBody>
      </p:sp>
      <p:sp>
        <p:nvSpPr>
          <p:cNvPr id="32" name="TextBox 31">
            <a:extLst>
              <a:ext uri="{FF2B5EF4-FFF2-40B4-BE49-F238E27FC236}">
                <a16:creationId xmlns:a16="http://schemas.microsoft.com/office/drawing/2014/main" id="{6E2AC49B-42ED-19F2-170D-002D2D402B7E}"/>
              </a:ext>
            </a:extLst>
          </p:cNvPr>
          <p:cNvSpPr txBox="1"/>
          <p:nvPr/>
        </p:nvSpPr>
        <p:spPr>
          <a:xfrm>
            <a:off x="6277401" y="3812032"/>
            <a:ext cx="2484967" cy="369332"/>
          </a:xfrm>
          <a:prstGeom prst="rect">
            <a:avLst/>
          </a:prstGeom>
          <a:noFill/>
        </p:spPr>
        <p:txBody>
          <a:bodyPr wrap="square" rtlCol="0">
            <a:spAutoFit/>
          </a:bodyPr>
          <a:lstStyle/>
          <a:p>
            <a:r>
              <a:rPr lang="en-US" dirty="0" err="1"/>
              <a:t>Tevyah</a:t>
            </a:r>
            <a:r>
              <a:rPr lang="en-US" dirty="0"/>
              <a:t> Hanley</a:t>
            </a:r>
          </a:p>
        </p:txBody>
      </p:sp>
      <p:sp>
        <p:nvSpPr>
          <p:cNvPr id="33" name="TextBox 32">
            <a:extLst>
              <a:ext uri="{FF2B5EF4-FFF2-40B4-BE49-F238E27FC236}">
                <a16:creationId xmlns:a16="http://schemas.microsoft.com/office/drawing/2014/main" id="{7D275FAE-520F-4285-E6C1-08D00EEC5A97}"/>
              </a:ext>
            </a:extLst>
          </p:cNvPr>
          <p:cNvSpPr txBox="1"/>
          <p:nvPr/>
        </p:nvSpPr>
        <p:spPr>
          <a:xfrm>
            <a:off x="9094368" y="3835070"/>
            <a:ext cx="2484967" cy="369332"/>
          </a:xfrm>
          <a:prstGeom prst="rect">
            <a:avLst/>
          </a:prstGeom>
          <a:noFill/>
        </p:spPr>
        <p:txBody>
          <a:bodyPr wrap="square" rtlCol="0">
            <a:spAutoFit/>
          </a:bodyPr>
          <a:lstStyle/>
          <a:p>
            <a:r>
              <a:rPr lang="en-US" dirty="0"/>
              <a:t>Cameron Mendez</a:t>
            </a:r>
          </a:p>
        </p:txBody>
      </p:sp>
    </p:spTree>
    <p:extLst>
      <p:ext uri="{BB962C8B-B14F-4D97-AF65-F5344CB8AC3E}">
        <p14:creationId xmlns:p14="http://schemas.microsoft.com/office/powerpoint/2010/main" val="4094139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84B021-9DD6-2CF1-19F4-0483D6215CF4}"/>
              </a:ext>
            </a:extLst>
          </p:cNvPr>
          <p:cNvSpPr>
            <a:spLocks noGrp="1"/>
          </p:cNvSpPr>
          <p:nvPr>
            <p:ph type="title"/>
          </p:nvPr>
        </p:nvSpPr>
        <p:spPr>
          <a:xfrm>
            <a:off x="1286933" y="609600"/>
            <a:ext cx="10197494" cy="1099457"/>
          </a:xfrm>
        </p:spPr>
        <p:txBody>
          <a:bodyPr>
            <a:normAutofit/>
          </a:bodyPr>
          <a:lstStyle/>
          <a:p>
            <a:r>
              <a:rPr lang="en-US"/>
              <a:t>About us</a:t>
            </a:r>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Isosceles Triangle 5">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CB5A8A32-9F57-9077-7F90-7FB6DDA53D06}"/>
              </a:ext>
            </a:extLst>
          </p:cNvPr>
          <p:cNvGraphicFramePr>
            <a:graphicFrameLocks noGrp="1"/>
          </p:cNvGraphicFramePr>
          <p:nvPr>
            <p:ph idx="1"/>
            <p:extLst>
              <p:ext uri="{D42A27DB-BD31-4B8C-83A1-F6EECF244321}">
                <p14:modId xmlns:p14="http://schemas.microsoft.com/office/powerpoint/2010/main" val="2447308501"/>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4797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76A7C-492B-9E1F-3A40-850586429CB4}"/>
              </a:ext>
            </a:extLst>
          </p:cNvPr>
          <p:cNvSpPr>
            <a:spLocks noGrp="1"/>
          </p:cNvSpPr>
          <p:nvPr>
            <p:ph type="title"/>
          </p:nvPr>
        </p:nvSpPr>
        <p:spPr/>
        <p:txBody>
          <a:bodyPr/>
          <a:lstStyle/>
          <a:p>
            <a:r>
              <a:rPr lang="en-US" dirty="0"/>
              <a:t>Sample Prototype</a:t>
            </a:r>
          </a:p>
        </p:txBody>
      </p:sp>
      <p:sp>
        <p:nvSpPr>
          <p:cNvPr id="3" name="Content Placeholder 2">
            <a:extLst>
              <a:ext uri="{FF2B5EF4-FFF2-40B4-BE49-F238E27FC236}">
                <a16:creationId xmlns:a16="http://schemas.microsoft.com/office/drawing/2014/main" id="{D13BFE85-4D26-3106-186A-FF6E2AF2EA28}"/>
              </a:ext>
            </a:extLst>
          </p:cNvPr>
          <p:cNvSpPr>
            <a:spLocks noGrp="1"/>
          </p:cNvSpPr>
          <p:nvPr>
            <p:ph sz="half" idx="1"/>
          </p:nvPr>
        </p:nvSpPr>
        <p:spPr/>
        <p:txBody>
          <a:bodyPr>
            <a:normAutofit/>
          </a:bodyPr>
          <a:lstStyle/>
          <a:p>
            <a:r>
              <a:rPr lang="en-US" dirty="0"/>
              <a:t>Landing </a:t>
            </a:r>
          </a:p>
          <a:p>
            <a:pPr lvl="1"/>
            <a:endParaRPr lang="en-US" dirty="0"/>
          </a:p>
          <a:p>
            <a:endParaRPr lang="en-US" dirty="0"/>
          </a:p>
          <a:p>
            <a:endParaRPr lang="en-US" dirty="0"/>
          </a:p>
          <a:p>
            <a:endParaRPr lang="en-US" dirty="0"/>
          </a:p>
          <a:p>
            <a:r>
              <a:rPr lang="en-US" dirty="0"/>
              <a:t>About Us</a:t>
            </a:r>
          </a:p>
          <a:p>
            <a:pPr lvl="1"/>
            <a:endParaRPr lang="en-US" dirty="0"/>
          </a:p>
          <a:p>
            <a:endParaRPr lang="en-US" dirty="0"/>
          </a:p>
        </p:txBody>
      </p:sp>
      <p:sp>
        <p:nvSpPr>
          <p:cNvPr id="10" name="Content Placeholder 9">
            <a:extLst>
              <a:ext uri="{FF2B5EF4-FFF2-40B4-BE49-F238E27FC236}">
                <a16:creationId xmlns:a16="http://schemas.microsoft.com/office/drawing/2014/main" id="{216E12B2-E954-51A7-B1C6-4F3A02EFC7C2}"/>
              </a:ext>
            </a:extLst>
          </p:cNvPr>
          <p:cNvSpPr>
            <a:spLocks noGrp="1"/>
          </p:cNvSpPr>
          <p:nvPr>
            <p:ph sz="half" idx="2"/>
          </p:nvPr>
        </p:nvSpPr>
        <p:spPr/>
        <p:txBody>
          <a:bodyPr/>
          <a:lstStyle/>
          <a:p>
            <a:r>
              <a:rPr lang="en-US" dirty="0"/>
              <a:t>Attractions</a:t>
            </a:r>
          </a:p>
          <a:p>
            <a:endParaRPr lang="en-US" dirty="0"/>
          </a:p>
          <a:p>
            <a:endParaRPr lang="en-US" dirty="0"/>
          </a:p>
          <a:p>
            <a:endParaRPr lang="en-US" dirty="0"/>
          </a:p>
          <a:p>
            <a:endParaRPr lang="en-US" dirty="0"/>
          </a:p>
          <a:p>
            <a:r>
              <a:rPr lang="en-US" dirty="0"/>
              <a:t>Contact Us</a:t>
            </a:r>
          </a:p>
        </p:txBody>
      </p:sp>
      <p:pic>
        <p:nvPicPr>
          <p:cNvPr id="7" name="Picture 6">
            <a:extLst>
              <a:ext uri="{FF2B5EF4-FFF2-40B4-BE49-F238E27FC236}">
                <a16:creationId xmlns:a16="http://schemas.microsoft.com/office/drawing/2014/main" id="{467F5ACD-1882-042C-1AAD-BC498940A8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567" y="2541470"/>
            <a:ext cx="3226675" cy="1568233"/>
          </a:xfrm>
          <a:prstGeom prst="rect">
            <a:avLst/>
          </a:prstGeom>
        </p:spPr>
      </p:pic>
      <p:pic>
        <p:nvPicPr>
          <p:cNvPr id="9" name="Picture 8">
            <a:extLst>
              <a:ext uri="{FF2B5EF4-FFF2-40B4-BE49-F238E27FC236}">
                <a16:creationId xmlns:a16="http://schemas.microsoft.com/office/drawing/2014/main" id="{6A1A0396-30C8-5C2F-702D-2EF786E28C8E}"/>
              </a:ext>
            </a:extLst>
          </p:cNvPr>
          <p:cNvPicPr>
            <a:picLocks noChangeAspect="1"/>
          </p:cNvPicPr>
          <p:nvPr/>
        </p:nvPicPr>
        <p:blipFill>
          <a:blip r:embed="rId3"/>
          <a:stretch>
            <a:fillRect/>
          </a:stretch>
        </p:blipFill>
        <p:spPr>
          <a:xfrm>
            <a:off x="1017161" y="4490583"/>
            <a:ext cx="3265698" cy="1568233"/>
          </a:xfrm>
          <a:prstGeom prst="rect">
            <a:avLst/>
          </a:prstGeom>
        </p:spPr>
      </p:pic>
      <p:pic>
        <p:nvPicPr>
          <p:cNvPr id="11" name="Picture 10">
            <a:extLst>
              <a:ext uri="{FF2B5EF4-FFF2-40B4-BE49-F238E27FC236}">
                <a16:creationId xmlns:a16="http://schemas.microsoft.com/office/drawing/2014/main" id="{DB411A97-9397-BE57-032E-B6D1C786E764}"/>
              </a:ext>
            </a:extLst>
          </p:cNvPr>
          <p:cNvPicPr>
            <a:picLocks noChangeAspect="1"/>
          </p:cNvPicPr>
          <p:nvPr/>
        </p:nvPicPr>
        <p:blipFill>
          <a:blip r:embed="rId4"/>
          <a:stretch>
            <a:fillRect/>
          </a:stretch>
        </p:blipFill>
        <p:spPr>
          <a:xfrm>
            <a:off x="5410200" y="4519447"/>
            <a:ext cx="3265697" cy="1539369"/>
          </a:xfrm>
          <a:prstGeom prst="rect">
            <a:avLst/>
          </a:prstGeom>
        </p:spPr>
      </p:pic>
      <p:pic>
        <p:nvPicPr>
          <p:cNvPr id="13" name="Picture 12">
            <a:extLst>
              <a:ext uri="{FF2B5EF4-FFF2-40B4-BE49-F238E27FC236}">
                <a16:creationId xmlns:a16="http://schemas.microsoft.com/office/drawing/2014/main" id="{EF078E6E-2257-469A-8B0F-7858F7D65971}"/>
              </a:ext>
            </a:extLst>
          </p:cNvPr>
          <p:cNvPicPr>
            <a:picLocks noChangeAspect="1"/>
          </p:cNvPicPr>
          <p:nvPr/>
        </p:nvPicPr>
        <p:blipFill>
          <a:blip r:embed="rId5"/>
          <a:stretch>
            <a:fillRect/>
          </a:stretch>
        </p:blipFill>
        <p:spPr>
          <a:xfrm>
            <a:off x="5362549" y="2541470"/>
            <a:ext cx="3313347" cy="1568233"/>
          </a:xfrm>
          <a:prstGeom prst="rect">
            <a:avLst/>
          </a:prstGeom>
        </p:spPr>
      </p:pic>
    </p:spTree>
    <p:extLst>
      <p:ext uri="{BB962C8B-B14F-4D97-AF65-F5344CB8AC3E}">
        <p14:creationId xmlns:p14="http://schemas.microsoft.com/office/powerpoint/2010/main" val="4234772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21E62-58B2-44B7-43D5-3CEB2358FFCD}"/>
              </a:ext>
            </a:extLst>
          </p:cNvPr>
          <p:cNvSpPr>
            <a:spLocks noGrp="1"/>
          </p:cNvSpPr>
          <p:nvPr>
            <p:ph type="title"/>
          </p:nvPr>
        </p:nvSpPr>
        <p:spPr/>
        <p:txBody>
          <a:bodyPr/>
          <a:lstStyle/>
          <a:p>
            <a:r>
              <a:rPr lang="en-US" dirty="0"/>
              <a:t>Sample Prototype cont.</a:t>
            </a:r>
          </a:p>
        </p:txBody>
      </p:sp>
      <p:sp>
        <p:nvSpPr>
          <p:cNvPr id="3" name="Content Placeholder 2">
            <a:extLst>
              <a:ext uri="{FF2B5EF4-FFF2-40B4-BE49-F238E27FC236}">
                <a16:creationId xmlns:a16="http://schemas.microsoft.com/office/drawing/2014/main" id="{B89E9790-BEC7-9C1A-8EB0-B5F5A7EE723B}"/>
              </a:ext>
            </a:extLst>
          </p:cNvPr>
          <p:cNvSpPr>
            <a:spLocks noGrp="1"/>
          </p:cNvSpPr>
          <p:nvPr>
            <p:ph sz="half" idx="1"/>
          </p:nvPr>
        </p:nvSpPr>
        <p:spPr/>
        <p:txBody>
          <a:bodyPr/>
          <a:lstStyle/>
          <a:p>
            <a:r>
              <a:rPr lang="en-US" dirty="0"/>
              <a:t>Login</a:t>
            </a:r>
          </a:p>
          <a:p>
            <a:endParaRPr lang="en-US" dirty="0"/>
          </a:p>
          <a:p>
            <a:endParaRPr lang="en-US" dirty="0"/>
          </a:p>
          <a:p>
            <a:pPr marL="0" indent="0">
              <a:buNone/>
            </a:pPr>
            <a:endParaRPr lang="en-US" dirty="0"/>
          </a:p>
          <a:p>
            <a:pPr marL="0" indent="0">
              <a:buNone/>
            </a:pPr>
            <a:endParaRPr lang="en-US" dirty="0"/>
          </a:p>
          <a:p>
            <a:r>
              <a:rPr lang="en-US" dirty="0"/>
              <a:t>Registration</a:t>
            </a:r>
          </a:p>
          <a:p>
            <a:endParaRPr lang="en-US" dirty="0"/>
          </a:p>
          <a:p>
            <a:endParaRPr lang="en-US" dirty="0"/>
          </a:p>
        </p:txBody>
      </p:sp>
      <p:sp>
        <p:nvSpPr>
          <p:cNvPr id="8" name="Content Placeholder 7">
            <a:extLst>
              <a:ext uri="{FF2B5EF4-FFF2-40B4-BE49-F238E27FC236}">
                <a16:creationId xmlns:a16="http://schemas.microsoft.com/office/drawing/2014/main" id="{4764FB3E-6272-55D7-3DD3-0E846FC3AA40}"/>
              </a:ext>
            </a:extLst>
          </p:cNvPr>
          <p:cNvSpPr>
            <a:spLocks noGrp="1"/>
          </p:cNvSpPr>
          <p:nvPr>
            <p:ph sz="half" idx="2"/>
          </p:nvPr>
        </p:nvSpPr>
        <p:spPr/>
        <p:txBody>
          <a:bodyPr/>
          <a:lstStyle/>
          <a:p>
            <a:endParaRPr lang="en-US" dirty="0"/>
          </a:p>
          <a:p>
            <a:endParaRPr lang="en-US" dirty="0"/>
          </a:p>
          <a:p>
            <a:r>
              <a:rPr lang="en-US" dirty="0"/>
              <a:t>Reservation</a:t>
            </a:r>
          </a:p>
          <a:p>
            <a:endParaRPr lang="en-US" dirty="0"/>
          </a:p>
        </p:txBody>
      </p:sp>
      <p:pic>
        <p:nvPicPr>
          <p:cNvPr id="10" name="Picture 9">
            <a:extLst>
              <a:ext uri="{FF2B5EF4-FFF2-40B4-BE49-F238E27FC236}">
                <a16:creationId xmlns:a16="http://schemas.microsoft.com/office/drawing/2014/main" id="{B2863854-5F63-5009-036D-C27F6DD64CD4}"/>
              </a:ext>
            </a:extLst>
          </p:cNvPr>
          <p:cNvPicPr>
            <a:picLocks noChangeAspect="1"/>
          </p:cNvPicPr>
          <p:nvPr/>
        </p:nvPicPr>
        <p:blipFill>
          <a:blip r:embed="rId2"/>
          <a:stretch>
            <a:fillRect/>
          </a:stretch>
        </p:blipFill>
        <p:spPr>
          <a:xfrm>
            <a:off x="835448" y="2636048"/>
            <a:ext cx="3867806" cy="1585903"/>
          </a:xfrm>
          <a:prstGeom prst="rect">
            <a:avLst/>
          </a:prstGeom>
        </p:spPr>
      </p:pic>
      <p:pic>
        <p:nvPicPr>
          <p:cNvPr id="12" name="Picture 11">
            <a:extLst>
              <a:ext uri="{FF2B5EF4-FFF2-40B4-BE49-F238E27FC236}">
                <a16:creationId xmlns:a16="http://schemas.microsoft.com/office/drawing/2014/main" id="{73A325B1-F2C2-D9A2-5469-E978B3F30611}"/>
              </a:ext>
            </a:extLst>
          </p:cNvPr>
          <p:cNvPicPr>
            <a:picLocks noChangeAspect="1"/>
          </p:cNvPicPr>
          <p:nvPr/>
        </p:nvPicPr>
        <p:blipFill>
          <a:blip r:embed="rId3"/>
          <a:stretch>
            <a:fillRect/>
          </a:stretch>
        </p:blipFill>
        <p:spPr>
          <a:xfrm>
            <a:off x="924910" y="4549260"/>
            <a:ext cx="3778343" cy="2120806"/>
          </a:xfrm>
          <a:prstGeom prst="rect">
            <a:avLst/>
          </a:prstGeom>
        </p:spPr>
      </p:pic>
      <p:pic>
        <p:nvPicPr>
          <p:cNvPr id="14" name="Picture 13">
            <a:extLst>
              <a:ext uri="{FF2B5EF4-FFF2-40B4-BE49-F238E27FC236}">
                <a16:creationId xmlns:a16="http://schemas.microsoft.com/office/drawing/2014/main" id="{D160E621-355B-597E-9849-2191D728AAAF}"/>
              </a:ext>
            </a:extLst>
          </p:cNvPr>
          <p:cNvPicPr>
            <a:picLocks noChangeAspect="1"/>
          </p:cNvPicPr>
          <p:nvPr/>
        </p:nvPicPr>
        <p:blipFill>
          <a:blip r:embed="rId4"/>
          <a:stretch>
            <a:fillRect/>
          </a:stretch>
        </p:blipFill>
        <p:spPr>
          <a:xfrm>
            <a:off x="5292815" y="3529757"/>
            <a:ext cx="3778343" cy="1824382"/>
          </a:xfrm>
          <a:prstGeom prst="rect">
            <a:avLst/>
          </a:prstGeom>
        </p:spPr>
      </p:pic>
    </p:spTree>
    <p:extLst>
      <p:ext uri="{BB962C8B-B14F-4D97-AF65-F5344CB8AC3E}">
        <p14:creationId xmlns:p14="http://schemas.microsoft.com/office/powerpoint/2010/main" val="2164889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DD74F5A-96C6-E9F8-D762-6A601681E5B9}"/>
              </a:ext>
            </a:extLst>
          </p:cNvPr>
          <p:cNvSpPr>
            <a:spLocks noGrp="1"/>
          </p:cNvSpPr>
          <p:nvPr>
            <p:ph type="title"/>
          </p:nvPr>
        </p:nvSpPr>
        <p:spPr/>
        <p:txBody>
          <a:bodyPr/>
          <a:lstStyle/>
          <a:p>
            <a:r>
              <a:rPr lang="en-US" dirty="0"/>
              <a:t>ERD</a:t>
            </a:r>
          </a:p>
        </p:txBody>
      </p:sp>
      <p:pic>
        <p:nvPicPr>
          <p:cNvPr id="6" name="Picture 5">
            <a:extLst>
              <a:ext uri="{FF2B5EF4-FFF2-40B4-BE49-F238E27FC236}">
                <a16:creationId xmlns:a16="http://schemas.microsoft.com/office/drawing/2014/main" id="{A4035563-DA77-30E9-F8A6-8538A9DEAD26}"/>
              </a:ext>
            </a:extLst>
          </p:cNvPr>
          <p:cNvPicPr/>
          <p:nvPr/>
        </p:nvPicPr>
        <p:blipFill>
          <a:blip r:embed="rId2"/>
          <a:stretch>
            <a:fillRect/>
          </a:stretch>
        </p:blipFill>
        <p:spPr>
          <a:xfrm>
            <a:off x="2429510" y="1597572"/>
            <a:ext cx="6409690" cy="4729885"/>
          </a:xfrm>
          <a:prstGeom prst="rect">
            <a:avLst/>
          </a:prstGeom>
        </p:spPr>
      </p:pic>
    </p:spTree>
    <p:extLst>
      <p:ext uri="{BB962C8B-B14F-4D97-AF65-F5344CB8AC3E}">
        <p14:creationId xmlns:p14="http://schemas.microsoft.com/office/powerpoint/2010/main" val="2811409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E8B0DE-5FA8-555F-87BA-F228B4C1C10E}"/>
              </a:ext>
            </a:extLst>
          </p:cNvPr>
          <p:cNvSpPr>
            <a:spLocks noGrp="1"/>
          </p:cNvSpPr>
          <p:nvPr>
            <p:ph type="title"/>
          </p:nvPr>
        </p:nvSpPr>
        <p:spPr/>
        <p:txBody>
          <a:bodyPr/>
          <a:lstStyle/>
          <a:p>
            <a:r>
              <a:rPr lang="en-US" dirty="0"/>
              <a:t>Test Cases #1 &amp; #2</a:t>
            </a:r>
          </a:p>
        </p:txBody>
      </p:sp>
      <p:sp>
        <p:nvSpPr>
          <p:cNvPr id="4" name="Text Placeholder 3">
            <a:extLst>
              <a:ext uri="{FF2B5EF4-FFF2-40B4-BE49-F238E27FC236}">
                <a16:creationId xmlns:a16="http://schemas.microsoft.com/office/drawing/2014/main" id="{A2EC94FC-05CE-91C1-BC2F-0472CECF3191}"/>
              </a:ext>
            </a:extLst>
          </p:cNvPr>
          <p:cNvSpPr>
            <a:spLocks noGrp="1"/>
          </p:cNvSpPr>
          <p:nvPr>
            <p:ph type="body" idx="1"/>
          </p:nvPr>
        </p:nvSpPr>
        <p:spPr/>
        <p:txBody>
          <a:bodyPr/>
          <a:lstStyle/>
          <a:p>
            <a:r>
              <a:rPr lang="en-US" sz="1800" dirty="0"/>
              <a:t>Successful Reservation</a:t>
            </a:r>
          </a:p>
          <a:p>
            <a:r>
              <a:rPr lang="en-US" sz="1800" dirty="0"/>
              <a:t>Peer Tester – Cameron Mendez</a:t>
            </a:r>
          </a:p>
          <a:p>
            <a:r>
              <a:rPr lang="en-US" sz="1800" dirty="0"/>
              <a:t>Dev. –Zachary Anderson</a:t>
            </a:r>
          </a:p>
        </p:txBody>
      </p:sp>
      <p:sp>
        <p:nvSpPr>
          <p:cNvPr id="5" name="Content Placeholder 4">
            <a:extLst>
              <a:ext uri="{FF2B5EF4-FFF2-40B4-BE49-F238E27FC236}">
                <a16:creationId xmlns:a16="http://schemas.microsoft.com/office/drawing/2014/main" id="{04175213-D2B9-0340-0E96-8B20A688D32B}"/>
              </a:ext>
            </a:extLst>
          </p:cNvPr>
          <p:cNvSpPr>
            <a:spLocks noGrp="1"/>
          </p:cNvSpPr>
          <p:nvPr>
            <p:ph sz="half" idx="2"/>
          </p:nvPr>
        </p:nvSpPr>
        <p:spPr/>
        <p:txBody>
          <a:bodyPr>
            <a:normAutofit fontScale="85000" lnSpcReduction="10000"/>
          </a:bodyPr>
          <a:lstStyle/>
          <a:p>
            <a:r>
              <a:rPr lang="en-US" dirty="0"/>
              <a:t>This is a major part of the full site. Testing this feature involved making sure the page opened, buttons worked, and even that the database interacted with it. We started by opening the page (ensuring we are logged in) and filling out the form. When the reservation is made, we can then check the database to make sure that the reservation shows up.</a:t>
            </a:r>
          </a:p>
        </p:txBody>
      </p:sp>
      <p:sp>
        <p:nvSpPr>
          <p:cNvPr id="6" name="Text Placeholder 5">
            <a:extLst>
              <a:ext uri="{FF2B5EF4-FFF2-40B4-BE49-F238E27FC236}">
                <a16:creationId xmlns:a16="http://schemas.microsoft.com/office/drawing/2014/main" id="{77641AB6-6467-106C-886D-5D8AA02CB0DB}"/>
              </a:ext>
            </a:extLst>
          </p:cNvPr>
          <p:cNvSpPr>
            <a:spLocks noGrp="1"/>
          </p:cNvSpPr>
          <p:nvPr>
            <p:ph type="body" sz="quarter" idx="3"/>
          </p:nvPr>
        </p:nvSpPr>
        <p:spPr/>
        <p:txBody>
          <a:bodyPr/>
          <a:lstStyle/>
          <a:p>
            <a:r>
              <a:rPr lang="en-US" sz="1800" dirty="0"/>
              <a:t>Successful Reservation w/ Attractions</a:t>
            </a:r>
          </a:p>
          <a:p>
            <a:r>
              <a:rPr lang="en-US" sz="1800" dirty="0"/>
              <a:t>Peer Tester – Cameron Mendez</a:t>
            </a:r>
          </a:p>
          <a:p>
            <a:r>
              <a:rPr lang="en-US" sz="1800" dirty="0"/>
              <a:t>Dev. Zachary Anderson</a:t>
            </a:r>
          </a:p>
        </p:txBody>
      </p:sp>
      <p:sp>
        <p:nvSpPr>
          <p:cNvPr id="7" name="Content Placeholder 6">
            <a:extLst>
              <a:ext uri="{FF2B5EF4-FFF2-40B4-BE49-F238E27FC236}">
                <a16:creationId xmlns:a16="http://schemas.microsoft.com/office/drawing/2014/main" id="{9C33C115-FFF3-9CB0-2326-CAAE915DEA8E}"/>
              </a:ext>
            </a:extLst>
          </p:cNvPr>
          <p:cNvSpPr>
            <a:spLocks noGrp="1"/>
          </p:cNvSpPr>
          <p:nvPr>
            <p:ph sz="quarter" idx="4"/>
          </p:nvPr>
        </p:nvSpPr>
        <p:spPr/>
        <p:txBody>
          <a:bodyPr>
            <a:normAutofit fontScale="85000" lnSpcReduction="10000"/>
          </a:bodyPr>
          <a:lstStyle/>
          <a:p>
            <a:r>
              <a:rPr lang="en-US" dirty="0"/>
              <a:t>This feature is an important part of the reservation system because it allows users to add attractions to their stay. Testing this feature involved making sure the page loaded correctly, the attraction options displayed properly, and the form submitted successfully. We began by opening the page while logged in, selecting attractions along with reservation details, and submitting the form. After the reservation was completed, we checked the database to confirm that both the reservation and selected attractions were stored correctly.</a:t>
            </a:r>
          </a:p>
        </p:txBody>
      </p:sp>
    </p:spTree>
    <p:extLst>
      <p:ext uri="{BB962C8B-B14F-4D97-AF65-F5344CB8AC3E}">
        <p14:creationId xmlns:p14="http://schemas.microsoft.com/office/powerpoint/2010/main" val="390528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EF025-E944-1CFE-5CE8-550B60FC41CF}"/>
              </a:ext>
            </a:extLst>
          </p:cNvPr>
          <p:cNvSpPr>
            <a:spLocks noGrp="1"/>
          </p:cNvSpPr>
          <p:nvPr>
            <p:ph type="title"/>
          </p:nvPr>
        </p:nvSpPr>
        <p:spPr>
          <a:xfrm>
            <a:off x="677334" y="693737"/>
            <a:ext cx="8596668" cy="1320800"/>
          </a:xfrm>
        </p:spPr>
        <p:txBody>
          <a:bodyPr/>
          <a:lstStyle/>
          <a:p>
            <a:r>
              <a:rPr lang="en-US" dirty="0"/>
              <a:t>Test #3 &amp; #4</a:t>
            </a:r>
          </a:p>
        </p:txBody>
      </p:sp>
      <p:sp>
        <p:nvSpPr>
          <p:cNvPr id="3" name="Text Placeholder 3">
            <a:extLst>
              <a:ext uri="{FF2B5EF4-FFF2-40B4-BE49-F238E27FC236}">
                <a16:creationId xmlns:a16="http://schemas.microsoft.com/office/drawing/2014/main" id="{9C43ACCD-8D53-B279-7242-25D4FD9A9B5C}"/>
              </a:ext>
            </a:extLst>
          </p:cNvPr>
          <p:cNvSpPr txBox="1">
            <a:spLocks/>
          </p:cNvSpPr>
          <p:nvPr/>
        </p:nvSpPr>
        <p:spPr>
          <a:xfrm>
            <a:off x="677334" y="1354138"/>
            <a:ext cx="4087171" cy="1320800"/>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dirty="0"/>
              <a:t>Login Required for Reservation</a:t>
            </a:r>
          </a:p>
          <a:p>
            <a:pPr marL="0" indent="0">
              <a:buNone/>
            </a:pPr>
            <a:r>
              <a:rPr lang="en-US" dirty="0"/>
              <a:t>Peer Tester – Zachary Anderson</a:t>
            </a:r>
          </a:p>
          <a:p>
            <a:pPr marL="0" indent="0">
              <a:buNone/>
            </a:pPr>
            <a:r>
              <a:rPr lang="en-US" dirty="0"/>
              <a:t>Dev. –Angela Vargas</a:t>
            </a:r>
          </a:p>
        </p:txBody>
      </p:sp>
      <p:sp>
        <p:nvSpPr>
          <p:cNvPr id="4" name="Content Placeholder 4">
            <a:extLst>
              <a:ext uri="{FF2B5EF4-FFF2-40B4-BE49-F238E27FC236}">
                <a16:creationId xmlns:a16="http://schemas.microsoft.com/office/drawing/2014/main" id="{DF4EAEC7-E1D6-D9A9-445C-848DE27003E6}"/>
              </a:ext>
            </a:extLst>
          </p:cNvPr>
          <p:cNvSpPr txBox="1">
            <a:spLocks/>
          </p:cNvSpPr>
          <p:nvPr/>
        </p:nvSpPr>
        <p:spPr>
          <a:xfrm>
            <a:off x="677334" y="2674938"/>
            <a:ext cx="4185623" cy="3304117"/>
          </a:xfrm>
          <a:prstGeom prst="rect">
            <a:avLst/>
          </a:prstGeom>
        </p:spPr>
        <p:txBody>
          <a:bodyPr>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This test verifies that users must be logged in before accessing the reservation page. Testing involved opening the reservation page without logging in, attempting to access it directly through the URL, and confirming the system redirected the user to the login page. After logging in with valid credentials, the reservation page loaded successfully and the active session displayed the username in the navigation bar. The test passed because access was restricted until login was completed.</a:t>
            </a:r>
          </a:p>
        </p:txBody>
      </p:sp>
      <p:sp>
        <p:nvSpPr>
          <p:cNvPr id="5" name="Text Placeholder 3">
            <a:extLst>
              <a:ext uri="{FF2B5EF4-FFF2-40B4-BE49-F238E27FC236}">
                <a16:creationId xmlns:a16="http://schemas.microsoft.com/office/drawing/2014/main" id="{CECF55C6-FC3B-88DE-D32A-E4D1161C9C2C}"/>
              </a:ext>
            </a:extLst>
          </p:cNvPr>
          <p:cNvSpPr txBox="1">
            <a:spLocks/>
          </p:cNvSpPr>
          <p:nvPr/>
        </p:nvSpPr>
        <p:spPr>
          <a:xfrm>
            <a:off x="4764505" y="1280528"/>
            <a:ext cx="4087171" cy="1320800"/>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dirty="0"/>
              <a:t>About Us Page</a:t>
            </a:r>
          </a:p>
          <a:p>
            <a:pPr marL="0" indent="0">
              <a:buNone/>
            </a:pPr>
            <a:r>
              <a:rPr lang="en-US" dirty="0"/>
              <a:t>Peer Tester – Zachary Anderson</a:t>
            </a:r>
          </a:p>
          <a:p>
            <a:pPr marL="0" indent="0">
              <a:buNone/>
            </a:pPr>
            <a:r>
              <a:rPr lang="en-US" dirty="0"/>
              <a:t>Dev. –Angela Vargas</a:t>
            </a:r>
          </a:p>
        </p:txBody>
      </p:sp>
      <p:sp>
        <p:nvSpPr>
          <p:cNvPr id="6" name="Content Placeholder 4">
            <a:extLst>
              <a:ext uri="{FF2B5EF4-FFF2-40B4-BE49-F238E27FC236}">
                <a16:creationId xmlns:a16="http://schemas.microsoft.com/office/drawing/2014/main" id="{31B04446-7A52-B9FE-0A31-018DA3863056}"/>
              </a:ext>
            </a:extLst>
          </p:cNvPr>
          <p:cNvSpPr txBox="1">
            <a:spLocks/>
          </p:cNvSpPr>
          <p:nvPr/>
        </p:nvSpPr>
        <p:spPr>
          <a:xfrm>
            <a:off x="5088379" y="2604614"/>
            <a:ext cx="4185623" cy="3304117"/>
          </a:xfrm>
          <a:prstGeom prst="rect">
            <a:avLst/>
          </a:prstGeom>
        </p:spPr>
        <p:txBody>
          <a:bodyPr>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This test verifies that the About Us page loads correctly and displays the expected content. Testing involved navigating to the About Us page, checking that the story, mission, and team sections appeared, and confirming the page worked with active session data. After logging in, the welcome message displayed with the username. After logging out, the welcome message no longer appeared. The test passed because the page displayed properly and session handling worked correctly.</a:t>
            </a:r>
          </a:p>
        </p:txBody>
      </p:sp>
    </p:spTree>
    <p:extLst>
      <p:ext uri="{BB962C8B-B14F-4D97-AF65-F5344CB8AC3E}">
        <p14:creationId xmlns:p14="http://schemas.microsoft.com/office/powerpoint/2010/main" val="2796069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CD8A-3223-2F31-650E-7CF2EC66D703}"/>
              </a:ext>
            </a:extLst>
          </p:cNvPr>
          <p:cNvSpPr>
            <a:spLocks noGrp="1"/>
          </p:cNvSpPr>
          <p:nvPr>
            <p:ph type="title"/>
          </p:nvPr>
        </p:nvSpPr>
        <p:spPr/>
        <p:txBody>
          <a:bodyPr/>
          <a:lstStyle/>
          <a:p>
            <a:r>
              <a:rPr lang="en-US" dirty="0"/>
              <a:t>Test #5</a:t>
            </a:r>
          </a:p>
        </p:txBody>
      </p:sp>
      <p:sp>
        <p:nvSpPr>
          <p:cNvPr id="3" name="Text Placeholder 3">
            <a:extLst>
              <a:ext uri="{FF2B5EF4-FFF2-40B4-BE49-F238E27FC236}">
                <a16:creationId xmlns:a16="http://schemas.microsoft.com/office/drawing/2014/main" id="{3923677C-8F75-1C41-BAAF-0D673AA22FF3}"/>
              </a:ext>
            </a:extLst>
          </p:cNvPr>
          <p:cNvSpPr txBox="1">
            <a:spLocks/>
          </p:cNvSpPr>
          <p:nvPr/>
        </p:nvSpPr>
        <p:spPr>
          <a:xfrm>
            <a:off x="677334" y="1354138"/>
            <a:ext cx="4087171" cy="1320800"/>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dirty="0"/>
              <a:t>“Book Your Stay” Button Navigation</a:t>
            </a:r>
          </a:p>
          <a:p>
            <a:pPr marL="0" indent="0">
              <a:buNone/>
            </a:pPr>
            <a:r>
              <a:rPr lang="en-US" dirty="0"/>
              <a:t>Peer Tester – Zachary Anderson</a:t>
            </a:r>
          </a:p>
          <a:p>
            <a:pPr marL="0" indent="0">
              <a:buNone/>
            </a:pPr>
            <a:r>
              <a:rPr lang="en-US" dirty="0"/>
              <a:t>Dev. –Angela Vargas</a:t>
            </a:r>
          </a:p>
        </p:txBody>
      </p:sp>
      <p:sp>
        <p:nvSpPr>
          <p:cNvPr id="4" name="Content Placeholder 4">
            <a:extLst>
              <a:ext uri="{FF2B5EF4-FFF2-40B4-BE49-F238E27FC236}">
                <a16:creationId xmlns:a16="http://schemas.microsoft.com/office/drawing/2014/main" id="{29C13541-F6F1-3093-C073-F31AC4C5E4A9}"/>
              </a:ext>
            </a:extLst>
          </p:cNvPr>
          <p:cNvSpPr txBox="1">
            <a:spLocks/>
          </p:cNvSpPr>
          <p:nvPr/>
        </p:nvSpPr>
        <p:spPr>
          <a:xfrm>
            <a:off x="677334" y="2674938"/>
            <a:ext cx="4185623" cy="3304117"/>
          </a:xfrm>
          <a:prstGeom prst="rect">
            <a:avLst/>
          </a:prstGeom>
        </p:spPr>
        <p:txBody>
          <a:bodyPr>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This test verifies that the “Book Your Stay” button on the Attractions page correctly redirects users to the reservation page. Testing involved navigating to the Attractions page and confirming that all page content, images, and activity information loaded properly. After selecting the “Book Your Stay” button, users were successfully redirected to the Reservations page after logging in. The test passed because the button navigation worked correctly and all page elements displayed clearly without formatting issues. </a:t>
            </a:r>
          </a:p>
        </p:txBody>
      </p:sp>
    </p:spTree>
    <p:extLst>
      <p:ext uri="{BB962C8B-B14F-4D97-AF65-F5344CB8AC3E}">
        <p14:creationId xmlns:p14="http://schemas.microsoft.com/office/powerpoint/2010/main" val="3764509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D08B6-4BD9-6A6F-6632-2433ED3C3C37}"/>
              </a:ext>
            </a:extLst>
          </p:cNvPr>
          <p:cNvSpPr>
            <a:spLocks noGrp="1"/>
          </p:cNvSpPr>
          <p:nvPr>
            <p:ph type="title"/>
          </p:nvPr>
        </p:nvSpPr>
        <p:spPr/>
        <p:txBody>
          <a:bodyPr/>
          <a:lstStyle/>
          <a:p>
            <a:r>
              <a:rPr lang="en-US" dirty="0"/>
              <a:t>Lessons Learned- Bravo Team</a:t>
            </a:r>
          </a:p>
        </p:txBody>
      </p:sp>
      <p:sp>
        <p:nvSpPr>
          <p:cNvPr id="3" name="Content Placeholder 2">
            <a:extLst>
              <a:ext uri="{FF2B5EF4-FFF2-40B4-BE49-F238E27FC236}">
                <a16:creationId xmlns:a16="http://schemas.microsoft.com/office/drawing/2014/main" id="{5865FCAD-9C73-C8D0-AAF7-34B87E89CE1B}"/>
              </a:ext>
            </a:extLst>
          </p:cNvPr>
          <p:cNvSpPr>
            <a:spLocks noGrp="1"/>
          </p:cNvSpPr>
          <p:nvPr>
            <p:ph idx="1"/>
          </p:nvPr>
        </p:nvSpPr>
        <p:spPr>
          <a:xfrm>
            <a:off x="677334" y="1488613"/>
            <a:ext cx="8596668" cy="3880773"/>
          </a:xfrm>
        </p:spPr>
        <p:txBody>
          <a:bodyPr>
            <a:normAutofit fontScale="85000" lnSpcReduction="10000"/>
          </a:bodyPr>
          <a:lstStyle/>
          <a:p>
            <a:r>
              <a:rPr lang="en-US" dirty="0"/>
              <a:t>Angela Vargas </a:t>
            </a:r>
          </a:p>
          <a:p>
            <a:pPr marL="0" indent="0">
              <a:buNone/>
            </a:pPr>
            <a:r>
              <a:rPr lang="en-US" dirty="0"/>
              <a:t>Working on the Moffat Bay Lodge project was an enjoyable experience because it gave our team the opportunity to create a fully functional website while learning more about web development and teamwork. One of the biggest lessons learned during this project was the importance of communication and organization when working in a group environment. Since each team member had different schedules and responsibilities, it was important to make sure everyone stayed on the same page throughout the development process.</a:t>
            </a:r>
          </a:p>
          <a:p>
            <a:pPr marL="0" indent="0">
              <a:buNone/>
            </a:pPr>
            <a:r>
              <a:rPr lang="en-US" dirty="0"/>
              <a:t>As the project continued, our team improved communication by regularly discussing which sections each person was responsible for and updating one another when tasks were completed. This helped prevent confusion and allowed the project to move forward more smoothly. We also learned the importance of planning ahead and creating a game plan at the beginning of each week so every team member understood the goals and deadlines for upcoming assignments.</a:t>
            </a:r>
          </a:p>
          <a:p>
            <a:pPr marL="0" indent="0">
              <a:buNone/>
            </a:pPr>
            <a:r>
              <a:rPr lang="en-US" dirty="0"/>
              <a:t>Overall, this project helped strengthen our teamwork, collaboration, and problem-solving skills while also giving us hands-on experience with PHP, MySQL, GitHub, testing, and website development.</a:t>
            </a:r>
          </a:p>
          <a:p>
            <a:pPr marL="0" indent="0">
              <a:buNone/>
            </a:pPr>
            <a:endParaRPr lang="en-US" dirty="0"/>
          </a:p>
        </p:txBody>
      </p:sp>
    </p:spTree>
    <p:extLst>
      <p:ext uri="{BB962C8B-B14F-4D97-AF65-F5344CB8AC3E}">
        <p14:creationId xmlns:p14="http://schemas.microsoft.com/office/powerpoint/2010/main" val="1823897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936D0-703C-FD66-902D-8EBF781AE571}"/>
              </a:ext>
            </a:extLst>
          </p:cNvPr>
          <p:cNvSpPr>
            <a:spLocks noGrp="1"/>
          </p:cNvSpPr>
          <p:nvPr>
            <p:ph type="title"/>
          </p:nvPr>
        </p:nvSpPr>
        <p:spPr/>
        <p:txBody>
          <a:bodyPr/>
          <a:lstStyle/>
          <a:p>
            <a:r>
              <a:rPr lang="en-US" dirty="0"/>
              <a:t>Lessons Learned- Bravo Team cont.</a:t>
            </a:r>
          </a:p>
        </p:txBody>
      </p:sp>
      <p:sp>
        <p:nvSpPr>
          <p:cNvPr id="3" name="Content Placeholder 2">
            <a:extLst>
              <a:ext uri="{FF2B5EF4-FFF2-40B4-BE49-F238E27FC236}">
                <a16:creationId xmlns:a16="http://schemas.microsoft.com/office/drawing/2014/main" id="{380BC9FD-17A5-CDD1-EDD8-D20D079F56D7}"/>
              </a:ext>
            </a:extLst>
          </p:cNvPr>
          <p:cNvSpPr>
            <a:spLocks noGrp="1"/>
          </p:cNvSpPr>
          <p:nvPr>
            <p:ph idx="1"/>
          </p:nvPr>
        </p:nvSpPr>
        <p:spPr/>
        <p:txBody>
          <a:bodyPr/>
          <a:lstStyle/>
          <a:p>
            <a:r>
              <a:rPr lang="en-US" dirty="0"/>
              <a:t>Zachary Anderson</a:t>
            </a:r>
          </a:p>
          <a:p>
            <a:pPr marL="0" indent="0">
              <a:buNone/>
            </a:pPr>
            <a:r>
              <a:rPr lang="en-US" sz="1500" dirty="0"/>
              <a:t>This project was a look into the future of software development, and I was here for every second of it. My team was wonderful, and I learned a lot from our successes and mistakes. Some of the troubles we had were scheduling conflicts, internet connection issues due to storm outages, and misreading assignment requirements. These were overcome because all our members would pick up the others who were faltering when needed. That was a look at what a good software development team could do. We were just students at the time, but it felt like we were working for a client. I liked that aspect a lot. </a:t>
            </a:r>
          </a:p>
          <a:p>
            <a:pPr marL="0" indent="0">
              <a:buNone/>
            </a:pPr>
            <a:endParaRPr lang="en-US" sz="1500" dirty="0"/>
          </a:p>
          <a:p>
            <a:pPr marL="0" indent="0">
              <a:buNone/>
            </a:pPr>
            <a:endParaRPr lang="en-US" sz="1500" dirty="0"/>
          </a:p>
        </p:txBody>
      </p:sp>
    </p:spTree>
    <p:extLst>
      <p:ext uri="{BB962C8B-B14F-4D97-AF65-F5344CB8AC3E}">
        <p14:creationId xmlns:p14="http://schemas.microsoft.com/office/powerpoint/2010/main" val="1434346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51A27-4FF7-3ED6-9166-D3C06C9E15DC}"/>
              </a:ext>
            </a:extLst>
          </p:cNvPr>
          <p:cNvSpPr>
            <a:spLocks noGrp="1"/>
          </p:cNvSpPr>
          <p:nvPr>
            <p:ph type="title"/>
          </p:nvPr>
        </p:nvSpPr>
        <p:spPr/>
        <p:txBody>
          <a:bodyPr/>
          <a:lstStyle/>
          <a:p>
            <a:r>
              <a:rPr lang="en-US" dirty="0"/>
              <a:t>Lessons Learned- Bravo Team cont.</a:t>
            </a:r>
          </a:p>
        </p:txBody>
      </p:sp>
      <p:sp>
        <p:nvSpPr>
          <p:cNvPr id="3" name="Content Placeholder 2">
            <a:extLst>
              <a:ext uri="{FF2B5EF4-FFF2-40B4-BE49-F238E27FC236}">
                <a16:creationId xmlns:a16="http://schemas.microsoft.com/office/drawing/2014/main" id="{295579C2-7691-9A85-459A-AE22AC7B3DE4}"/>
              </a:ext>
            </a:extLst>
          </p:cNvPr>
          <p:cNvSpPr>
            <a:spLocks noGrp="1"/>
          </p:cNvSpPr>
          <p:nvPr>
            <p:ph idx="1"/>
          </p:nvPr>
        </p:nvSpPr>
        <p:spPr/>
        <p:txBody>
          <a:bodyPr/>
          <a:lstStyle/>
          <a:p>
            <a:r>
              <a:rPr lang="en-US" dirty="0"/>
              <a:t>Cameron Mendez</a:t>
            </a:r>
          </a:p>
          <a:p>
            <a:pPr marL="0" indent="0">
              <a:buNone/>
            </a:pPr>
            <a:r>
              <a:rPr lang="en-US" sz="1500" dirty="0"/>
              <a:t>One of the biggest lessons learned during the Moffat Bay project was how small formatting and coding issues can create larger problems throughout a website. Our team experienced challenges with page layouts, file organization, and making sure code changes worked correctly across different sections of the project. These situations showed how important attention to detail and communication are in web development. In real-world software projects or not, even minor formatting mistakes, inconsistent code, or failure to follow company standards can affect the user experience and slow down development if teams are not organized. Altogether, I think this project helped us improve our teamwork, problem-solving, and understanding of how collaborative web development works in a professional environment.</a:t>
            </a:r>
          </a:p>
        </p:txBody>
      </p:sp>
    </p:spTree>
    <p:extLst>
      <p:ext uri="{BB962C8B-B14F-4D97-AF65-F5344CB8AC3E}">
        <p14:creationId xmlns:p14="http://schemas.microsoft.com/office/powerpoint/2010/main" val="182472222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81</TotalTime>
  <Words>1136</Words>
  <Application>Microsoft Office PowerPoint</Application>
  <PresentationFormat>Widescreen</PresentationFormat>
  <Paragraphs>72</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Trebuchet MS</vt:lpstr>
      <vt:lpstr>Wingdings 3</vt:lpstr>
      <vt:lpstr>Facet</vt:lpstr>
      <vt:lpstr>Moffat Bay Lodge</vt:lpstr>
      <vt:lpstr>Meet the Team</vt:lpstr>
      <vt:lpstr>About us</vt:lpstr>
      <vt:lpstr>Sample Prototype</vt:lpstr>
      <vt:lpstr>Sample Prototype cont.</vt:lpstr>
      <vt:lpstr>ERD</vt:lpstr>
      <vt:lpstr>Test Cases #1 &amp; #2</vt:lpstr>
      <vt:lpstr>Test #3 &amp; #4</vt:lpstr>
      <vt:lpstr>Test #5</vt:lpstr>
      <vt:lpstr>Lessons Learned- Bravo Team</vt:lpstr>
      <vt:lpstr>Lessons Learned- Bravo Team cont.</vt:lpstr>
      <vt:lpstr>Lessons Learned- Bravo Team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Zachary Anderson</dc:creator>
  <cp:lastModifiedBy>Cameron Mendez</cp:lastModifiedBy>
  <cp:revision>7</cp:revision>
  <dcterms:created xsi:type="dcterms:W3CDTF">2026-05-07T05:31:09Z</dcterms:created>
  <dcterms:modified xsi:type="dcterms:W3CDTF">2026-05-15T22:14:25Z</dcterms:modified>
</cp:coreProperties>
</file>